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handoutMasterIdLst>
    <p:handoutMasterId r:id="rId18"/>
  </p:handoutMasterIdLst>
  <p:sldIdLst>
    <p:sldId id="256" r:id="rId5"/>
    <p:sldId id="288" r:id="rId6"/>
    <p:sldId id="289" r:id="rId7"/>
    <p:sldId id="271" r:id="rId8"/>
    <p:sldId id="284" r:id="rId9"/>
    <p:sldId id="283" r:id="rId10"/>
    <p:sldId id="279" r:id="rId11"/>
    <p:sldId id="285" r:id="rId12"/>
    <p:sldId id="286" r:id="rId13"/>
    <p:sldId id="287" r:id="rId14"/>
    <p:sldId id="290" r:id="rId15"/>
    <p:sldId id="29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88"/>
            <p14:sldId id="289"/>
            <p14:sldId id="271"/>
            <p14:sldId id="284"/>
            <p14:sldId id="283"/>
            <p14:sldId id="279"/>
            <p14:sldId id="285"/>
            <p14:sldId id="286"/>
            <p14:sldId id="287"/>
            <p14:sldId id="290"/>
            <p14:sldId id="291"/>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241" autoAdjust="0"/>
  </p:normalViewPr>
  <p:slideViewPr>
    <p:cSldViewPr snapToGrid="0">
      <p:cViewPr varScale="1">
        <p:scale>
          <a:sx n="89" d="100"/>
          <a:sy n="89" d="100"/>
        </p:scale>
        <p:origin x="108" y="5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6B9A3F-C47F-4A80-B715-F638618152C8}" type="doc">
      <dgm:prSet loTypeId="urn:microsoft.com/office/officeart/2009/3/layout/StepUpProcess" loCatId="process" qsTypeId="urn:microsoft.com/office/officeart/2005/8/quickstyle/simple3" qsCatId="simple" csTypeId="urn:microsoft.com/office/officeart/2005/8/colors/accent1_2" csCatId="accent1" phldr="1"/>
      <dgm:spPr/>
      <dgm:t>
        <a:bodyPr/>
        <a:lstStyle/>
        <a:p>
          <a:endParaRPr lang="en-US"/>
        </a:p>
      </dgm:t>
    </dgm:pt>
    <dgm:pt modelId="{CC4842FF-CD8E-46E8-A12C-704F50C49547}">
      <dgm:prSet phldrT="[Text]" custT="1"/>
      <dgm:spPr/>
      <dgm:t>
        <a:bodyPr/>
        <a:lstStyle/>
        <a:p>
          <a:r>
            <a:rPr lang="en-US" sz="2000" dirty="0"/>
            <a:t>Trust Account – </a:t>
          </a:r>
          <a:r>
            <a:rPr lang="en-US" sz="1600" i="1" dirty="0">
              <a:solidFill>
                <a:schemeClr val="bg2">
                  <a:lumMod val="50000"/>
                </a:schemeClr>
              </a:solidFill>
            </a:rPr>
            <a:t>HSBC own, not require investor to open AC with HSBC</a:t>
          </a:r>
          <a:endParaRPr lang="en-US" sz="2000" i="1" dirty="0">
            <a:solidFill>
              <a:schemeClr val="bg2">
                <a:lumMod val="50000"/>
              </a:schemeClr>
            </a:solidFill>
          </a:endParaRPr>
        </a:p>
      </dgm:t>
    </dgm:pt>
    <dgm:pt modelId="{E1783AE2-00A7-4B0C-9BBC-5167448C9D9A}" type="parTrans" cxnId="{B6B821C6-DD64-46D7-883E-8973DF10877B}">
      <dgm:prSet/>
      <dgm:spPr/>
      <dgm:t>
        <a:bodyPr/>
        <a:lstStyle/>
        <a:p>
          <a:endParaRPr lang="en-US"/>
        </a:p>
      </dgm:t>
    </dgm:pt>
    <dgm:pt modelId="{4D1FB100-26ED-4366-9E4E-0CF124B80111}" type="sibTrans" cxnId="{B6B821C6-DD64-46D7-883E-8973DF10877B}">
      <dgm:prSet/>
      <dgm:spPr/>
      <dgm:t>
        <a:bodyPr/>
        <a:lstStyle/>
        <a:p>
          <a:endParaRPr lang="en-US"/>
        </a:p>
      </dgm:t>
    </dgm:pt>
    <dgm:pt modelId="{F8AD00C8-FABB-4925-8B62-3A171FA4BE85}">
      <dgm:prSet phldrT="[Text]" custT="1"/>
      <dgm:spPr/>
      <dgm:t>
        <a:bodyPr/>
        <a:lstStyle/>
        <a:p>
          <a:r>
            <a:rPr lang="en-US" sz="2000" kern="1200" dirty="0"/>
            <a:t>Escrow Account -</a:t>
          </a:r>
          <a:r>
            <a:rPr lang="en-US" sz="1600" i="1" kern="1200" dirty="0">
              <a:solidFill>
                <a:srgbClr val="E7E6E6">
                  <a:lumMod val="50000"/>
                </a:srgbClr>
              </a:solidFill>
              <a:latin typeface="Segoe UI"/>
              <a:ea typeface="+mn-ea"/>
              <a:cs typeface="+mn-cs"/>
            </a:rPr>
            <a:t>Not require Investor Confirmation for every Debit</a:t>
          </a:r>
        </a:p>
      </dgm:t>
    </dgm:pt>
    <dgm:pt modelId="{5FBA8363-C0AE-4B49-8FDB-B8FDFF6A82A8}" type="parTrans" cxnId="{2478F4C4-95C2-4594-AFE7-4352D6897686}">
      <dgm:prSet/>
      <dgm:spPr/>
      <dgm:t>
        <a:bodyPr/>
        <a:lstStyle/>
        <a:p>
          <a:endParaRPr lang="en-US"/>
        </a:p>
      </dgm:t>
    </dgm:pt>
    <dgm:pt modelId="{3BC285A2-9ECE-44E4-B593-3678EEAFFEB6}" type="sibTrans" cxnId="{2478F4C4-95C2-4594-AFE7-4352D6897686}">
      <dgm:prSet/>
      <dgm:spPr/>
      <dgm:t>
        <a:bodyPr/>
        <a:lstStyle/>
        <a:p>
          <a:endParaRPr lang="en-US"/>
        </a:p>
      </dgm:t>
    </dgm:pt>
    <dgm:pt modelId="{77FBD2CD-BF98-43B0-BF79-E6F6DEA312BD}">
      <dgm:prSet phldrT="[Text]" custT="1"/>
      <dgm:spPr/>
      <dgm:t>
        <a:bodyPr/>
        <a:lstStyle/>
        <a:p>
          <a:r>
            <a:rPr lang="en-US" sz="2000" kern="1200" dirty="0"/>
            <a:t>Escrow Account – </a:t>
          </a:r>
          <a:r>
            <a:rPr lang="en-US" sz="1600" i="1" kern="1200" dirty="0">
              <a:solidFill>
                <a:srgbClr val="E7E6E6">
                  <a:lumMod val="50000"/>
                </a:srgbClr>
              </a:solidFill>
              <a:latin typeface="Segoe UI"/>
              <a:ea typeface="+mn-ea"/>
              <a:cs typeface="+mn-cs"/>
            </a:rPr>
            <a:t>Require Investor Confirmation for every Debit</a:t>
          </a:r>
        </a:p>
      </dgm:t>
    </dgm:pt>
    <dgm:pt modelId="{060C6456-DE08-457C-8D98-FAE6DD746573}" type="parTrans" cxnId="{E5914994-F336-450E-9D4D-76A42691A69C}">
      <dgm:prSet/>
      <dgm:spPr/>
      <dgm:t>
        <a:bodyPr/>
        <a:lstStyle/>
        <a:p>
          <a:endParaRPr lang="en-US"/>
        </a:p>
      </dgm:t>
    </dgm:pt>
    <dgm:pt modelId="{736DD895-19C5-4CA5-AFA3-8842875BBCEA}" type="sibTrans" cxnId="{E5914994-F336-450E-9D4D-76A42691A69C}">
      <dgm:prSet/>
      <dgm:spPr/>
      <dgm:t>
        <a:bodyPr/>
        <a:lstStyle/>
        <a:p>
          <a:endParaRPr lang="en-US"/>
        </a:p>
      </dgm:t>
    </dgm:pt>
    <dgm:pt modelId="{4DD6FA29-85C2-4453-98DA-B216A1F8C9C4}" type="pres">
      <dgm:prSet presAssocID="{CD6B9A3F-C47F-4A80-B715-F638618152C8}" presName="rootnode" presStyleCnt="0">
        <dgm:presLayoutVars>
          <dgm:chMax/>
          <dgm:chPref/>
          <dgm:dir/>
          <dgm:animLvl val="lvl"/>
        </dgm:presLayoutVars>
      </dgm:prSet>
      <dgm:spPr/>
    </dgm:pt>
    <dgm:pt modelId="{198153C3-CCF9-4904-998C-A7C4AED4F3EF}" type="pres">
      <dgm:prSet presAssocID="{CC4842FF-CD8E-46E8-A12C-704F50C49547}" presName="composite" presStyleCnt="0"/>
      <dgm:spPr/>
    </dgm:pt>
    <dgm:pt modelId="{267657E6-56B4-4138-9E50-54DC06FEBBDE}" type="pres">
      <dgm:prSet presAssocID="{CC4842FF-CD8E-46E8-A12C-704F50C49547}" presName="LShape" presStyleLbl="alignNode1" presStyleIdx="0" presStyleCnt="5"/>
      <dgm:spPr/>
    </dgm:pt>
    <dgm:pt modelId="{8ED0B708-06B4-4FF6-8DAB-6497152554AF}" type="pres">
      <dgm:prSet presAssocID="{CC4842FF-CD8E-46E8-A12C-704F50C49547}" presName="ParentText" presStyleLbl="revTx" presStyleIdx="0" presStyleCnt="3">
        <dgm:presLayoutVars>
          <dgm:chMax val="0"/>
          <dgm:chPref val="0"/>
          <dgm:bulletEnabled val="1"/>
        </dgm:presLayoutVars>
      </dgm:prSet>
      <dgm:spPr/>
    </dgm:pt>
    <dgm:pt modelId="{64B5E19B-6005-4955-BDF9-5C0765F8A11C}" type="pres">
      <dgm:prSet presAssocID="{CC4842FF-CD8E-46E8-A12C-704F50C49547}" presName="Triangle" presStyleLbl="alignNode1" presStyleIdx="1" presStyleCnt="5"/>
      <dgm:spPr/>
    </dgm:pt>
    <dgm:pt modelId="{09D60F16-0EDB-47E0-B2DF-52C04F9EAF0B}" type="pres">
      <dgm:prSet presAssocID="{4D1FB100-26ED-4366-9E4E-0CF124B80111}" presName="sibTrans" presStyleCnt="0"/>
      <dgm:spPr/>
    </dgm:pt>
    <dgm:pt modelId="{6733D99A-3976-488C-8EA6-930CD3733ED8}" type="pres">
      <dgm:prSet presAssocID="{4D1FB100-26ED-4366-9E4E-0CF124B80111}" presName="space" presStyleCnt="0"/>
      <dgm:spPr/>
    </dgm:pt>
    <dgm:pt modelId="{D71E1FE3-7428-4728-9CC9-D40A315D0A9B}" type="pres">
      <dgm:prSet presAssocID="{F8AD00C8-FABB-4925-8B62-3A171FA4BE85}" presName="composite" presStyleCnt="0"/>
      <dgm:spPr/>
    </dgm:pt>
    <dgm:pt modelId="{1A9004FC-7B9E-49DC-B099-86243D382DC4}" type="pres">
      <dgm:prSet presAssocID="{F8AD00C8-FABB-4925-8B62-3A171FA4BE85}" presName="LShape" presStyleLbl="alignNode1" presStyleIdx="2" presStyleCnt="5"/>
      <dgm:spPr/>
    </dgm:pt>
    <dgm:pt modelId="{9256275A-4FDA-4288-BB78-2314D3E69133}" type="pres">
      <dgm:prSet presAssocID="{F8AD00C8-FABB-4925-8B62-3A171FA4BE85}" presName="ParentText" presStyleLbl="revTx" presStyleIdx="1" presStyleCnt="3">
        <dgm:presLayoutVars>
          <dgm:chMax val="0"/>
          <dgm:chPref val="0"/>
          <dgm:bulletEnabled val="1"/>
        </dgm:presLayoutVars>
      </dgm:prSet>
      <dgm:spPr/>
    </dgm:pt>
    <dgm:pt modelId="{316C86B6-498D-423E-B08B-B1934990F58B}" type="pres">
      <dgm:prSet presAssocID="{F8AD00C8-FABB-4925-8B62-3A171FA4BE85}" presName="Triangle" presStyleLbl="alignNode1" presStyleIdx="3" presStyleCnt="5"/>
      <dgm:spPr/>
    </dgm:pt>
    <dgm:pt modelId="{337AD41B-6929-4B8F-994C-34A2F62B5B88}" type="pres">
      <dgm:prSet presAssocID="{3BC285A2-9ECE-44E4-B593-3678EEAFFEB6}" presName="sibTrans" presStyleCnt="0"/>
      <dgm:spPr/>
    </dgm:pt>
    <dgm:pt modelId="{A7D16CE5-65BD-4083-A15E-560579BE9ECA}" type="pres">
      <dgm:prSet presAssocID="{3BC285A2-9ECE-44E4-B593-3678EEAFFEB6}" presName="space" presStyleCnt="0"/>
      <dgm:spPr/>
    </dgm:pt>
    <dgm:pt modelId="{9E836A24-83E6-4419-B2F1-F835C2A7788B}" type="pres">
      <dgm:prSet presAssocID="{77FBD2CD-BF98-43B0-BF79-E6F6DEA312BD}" presName="composite" presStyleCnt="0"/>
      <dgm:spPr/>
    </dgm:pt>
    <dgm:pt modelId="{245DB225-0122-4017-A33E-F0A747CB5982}" type="pres">
      <dgm:prSet presAssocID="{77FBD2CD-BF98-43B0-BF79-E6F6DEA312BD}" presName="LShape" presStyleLbl="alignNode1" presStyleIdx="4" presStyleCnt="5"/>
      <dgm:spPr/>
    </dgm:pt>
    <dgm:pt modelId="{FCF8BC38-EE6F-42CA-9217-09F83B87997F}" type="pres">
      <dgm:prSet presAssocID="{77FBD2CD-BF98-43B0-BF79-E6F6DEA312BD}" presName="ParentText" presStyleLbl="revTx" presStyleIdx="2" presStyleCnt="3">
        <dgm:presLayoutVars>
          <dgm:chMax val="0"/>
          <dgm:chPref val="0"/>
          <dgm:bulletEnabled val="1"/>
        </dgm:presLayoutVars>
      </dgm:prSet>
      <dgm:spPr/>
    </dgm:pt>
  </dgm:ptLst>
  <dgm:cxnLst>
    <dgm:cxn modelId="{7467F60D-38F2-44BF-9F69-0D438618EF57}" type="presOf" srcId="{77FBD2CD-BF98-43B0-BF79-E6F6DEA312BD}" destId="{FCF8BC38-EE6F-42CA-9217-09F83B87997F}" srcOrd="0" destOrd="0" presId="urn:microsoft.com/office/officeart/2009/3/layout/StepUpProcess"/>
    <dgm:cxn modelId="{272C517A-632C-4381-B7F7-3EF685EB6818}" type="presOf" srcId="{F8AD00C8-FABB-4925-8B62-3A171FA4BE85}" destId="{9256275A-4FDA-4288-BB78-2314D3E69133}" srcOrd="0" destOrd="0" presId="urn:microsoft.com/office/officeart/2009/3/layout/StepUpProcess"/>
    <dgm:cxn modelId="{E5914994-F336-450E-9D4D-76A42691A69C}" srcId="{CD6B9A3F-C47F-4A80-B715-F638618152C8}" destId="{77FBD2CD-BF98-43B0-BF79-E6F6DEA312BD}" srcOrd="2" destOrd="0" parTransId="{060C6456-DE08-457C-8D98-FAE6DD746573}" sibTransId="{736DD895-19C5-4CA5-AFA3-8842875BBCEA}"/>
    <dgm:cxn modelId="{FA37F69F-F017-4821-AE53-7B99503EF74F}" type="presOf" srcId="{CC4842FF-CD8E-46E8-A12C-704F50C49547}" destId="{8ED0B708-06B4-4FF6-8DAB-6497152554AF}" srcOrd="0" destOrd="0" presId="urn:microsoft.com/office/officeart/2009/3/layout/StepUpProcess"/>
    <dgm:cxn modelId="{2478F4C4-95C2-4594-AFE7-4352D6897686}" srcId="{CD6B9A3F-C47F-4A80-B715-F638618152C8}" destId="{F8AD00C8-FABB-4925-8B62-3A171FA4BE85}" srcOrd="1" destOrd="0" parTransId="{5FBA8363-C0AE-4B49-8FDB-B8FDFF6A82A8}" sibTransId="{3BC285A2-9ECE-44E4-B593-3678EEAFFEB6}"/>
    <dgm:cxn modelId="{B6B821C6-DD64-46D7-883E-8973DF10877B}" srcId="{CD6B9A3F-C47F-4A80-B715-F638618152C8}" destId="{CC4842FF-CD8E-46E8-A12C-704F50C49547}" srcOrd="0" destOrd="0" parTransId="{E1783AE2-00A7-4B0C-9BBC-5167448C9D9A}" sibTransId="{4D1FB100-26ED-4366-9E4E-0CF124B80111}"/>
    <dgm:cxn modelId="{E14C97F5-9114-41E8-A22D-3A14EADDC33A}" type="presOf" srcId="{CD6B9A3F-C47F-4A80-B715-F638618152C8}" destId="{4DD6FA29-85C2-4453-98DA-B216A1F8C9C4}" srcOrd="0" destOrd="0" presId="urn:microsoft.com/office/officeart/2009/3/layout/StepUpProcess"/>
    <dgm:cxn modelId="{7063F478-C699-4BD1-BA6F-12A914EDB5F8}" type="presParOf" srcId="{4DD6FA29-85C2-4453-98DA-B216A1F8C9C4}" destId="{198153C3-CCF9-4904-998C-A7C4AED4F3EF}" srcOrd="0" destOrd="0" presId="urn:microsoft.com/office/officeart/2009/3/layout/StepUpProcess"/>
    <dgm:cxn modelId="{93EC9F7E-1752-4459-838C-385300A70C83}" type="presParOf" srcId="{198153C3-CCF9-4904-998C-A7C4AED4F3EF}" destId="{267657E6-56B4-4138-9E50-54DC06FEBBDE}" srcOrd="0" destOrd="0" presId="urn:microsoft.com/office/officeart/2009/3/layout/StepUpProcess"/>
    <dgm:cxn modelId="{6FBEAD02-6E8C-47A8-9DCC-D05B9DAA565C}" type="presParOf" srcId="{198153C3-CCF9-4904-998C-A7C4AED4F3EF}" destId="{8ED0B708-06B4-4FF6-8DAB-6497152554AF}" srcOrd="1" destOrd="0" presId="urn:microsoft.com/office/officeart/2009/3/layout/StepUpProcess"/>
    <dgm:cxn modelId="{FE448C4C-D8D8-4B1C-B00F-38BDDB798075}" type="presParOf" srcId="{198153C3-CCF9-4904-998C-A7C4AED4F3EF}" destId="{64B5E19B-6005-4955-BDF9-5C0765F8A11C}" srcOrd="2" destOrd="0" presId="urn:microsoft.com/office/officeart/2009/3/layout/StepUpProcess"/>
    <dgm:cxn modelId="{79D09E94-64CD-42F5-9A08-D15DA6E11454}" type="presParOf" srcId="{4DD6FA29-85C2-4453-98DA-B216A1F8C9C4}" destId="{09D60F16-0EDB-47E0-B2DF-52C04F9EAF0B}" srcOrd="1" destOrd="0" presId="urn:microsoft.com/office/officeart/2009/3/layout/StepUpProcess"/>
    <dgm:cxn modelId="{3B9B2623-8CF1-412E-9376-DDEACC160FCE}" type="presParOf" srcId="{09D60F16-0EDB-47E0-B2DF-52C04F9EAF0B}" destId="{6733D99A-3976-488C-8EA6-930CD3733ED8}" srcOrd="0" destOrd="0" presId="urn:microsoft.com/office/officeart/2009/3/layout/StepUpProcess"/>
    <dgm:cxn modelId="{12C58D82-A530-4274-B607-33C6E2B11094}" type="presParOf" srcId="{4DD6FA29-85C2-4453-98DA-B216A1F8C9C4}" destId="{D71E1FE3-7428-4728-9CC9-D40A315D0A9B}" srcOrd="2" destOrd="0" presId="urn:microsoft.com/office/officeart/2009/3/layout/StepUpProcess"/>
    <dgm:cxn modelId="{F6AE8845-1E1A-4396-8261-C07843C7E6BB}" type="presParOf" srcId="{D71E1FE3-7428-4728-9CC9-D40A315D0A9B}" destId="{1A9004FC-7B9E-49DC-B099-86243D382DC4}" srcOrd="0" destOrd="0" presId="urn:microsoft.com/office/officeart/2009/3/layout/StepUpProcess"/>
    <dgm:cxn modelId="{79EC618C-6F82-49E7-800E-6802A1A066FA}" type="presParOf" srcId="{D71E1FE3-7428-4728-9CC9-D40A315D0A9B}" destId="{9256275A-4FDA-4288-BB78-2314D3E69133}" srcOrd="1" destOrd="0" presId="urn:microsoft.com/office/officeart/2009/3/layout/StepUpProcess"/>
    <dgm:cxn modelId="{8D61DC62-F850-444A-BD2D-A3992721810A}" type="presParOf" srcId="{D71E1FE3-7428-4728-9CC9-D40A315D0A9B}" destId="{316C86B6-498D-423E-B08B-B1934990F58B}" srcOrd="2" destOrd="0" presId="urn:microsoft.com/office/officeart/2009/3/layout/StepUpProcess"/>
    <dgm:cxn modelId="{C3B63653-5876-4AA5-A419-BD0EE255E4A3}" type="presParOf" srcId="{4DD6FA29-85C2-4453-98DA-B216A1F8C9C4}" destId="{337AD41B-6929-4B8F-994C-34A2F62B5B88}" srcOrd="3" destOrd="0" presId="urn:microsoft.com/office/officeart/2009/3/layout/StepUpProcess"/>
    <dgm:cxn modelId="{CD4C6922-828B-48CC-939C-B669DE26346C}" type="presParOf" srcId="{337AD41B-6929-4B8F-994C-34A2F62B5B88}" destId="{A7D16CE5-65BD-4083-A15E-560579BE9ECA}" srcOrd="0" destOrd="0" presId="urn:microsoft.com/office/officeart/2009/3/layout/StepUpProcess"/>
    <dgm:cxn modelId="{54EA7CD9-7477-4D1D-A7AD-DBFE53EDDF47}" type="presParOf" srcId="{4DD6FA29-85C2-4453-98DA-B216A1F8C9C4}" destId="{9E836A24-83E6-4419-B2F1-F835C2A7788B}" srcOrd="4" destOrd="0" presId="urn:microsoft.com/office/officeart/2009/3/layout/StepUpProcess"/>
    <dgm:cxn modelId="{D55C0E78-0244-49FA-8EF8-67D7BCCED9BE}" type="presParOf" srcId="{9E836A24-83E6-4419-B2F1-F835C2A7788B}" destId="{245DB225-0122-4017-A33E-F0A747CB5982}" srcOrd="0" destOrd="0" presId="urn:microsoft.com/office/officeart/2009/3/layout/StepUpProcess"/>
    <dgm:cxn modelId="{2AEF1B75-C6BA-48BA-A47B-C3ACA61A97F1}" type="presParOf" srcId="{9E836A24-83E6-4419-B2F1-F835C2A7788B}" destId="{FCF8BC38-EE6F-42CA-9217-09F83B87997F}"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7657E6-56B4-4138-9E50-54DC06FEBBDE}">
      <dsp:nvSpPr>
        <dsp:cNvPr id="0" name=""/>
        <dsp:cNvSpPr/>
      </dsp:nvSpPr>
      <dsp:spPr>
        <a:xfrm rot="5400000">
          <a:off x="363194" y="1255128"/>
          <a:ext cx="1085980" cy="1807047"/>
        </a:xfrm>
        <a:prstGeom prst="corner">
          <a:avLst>
            <a:gd name="adj1" fmla="val 16120"/>
            <a:gd name="adj2" fmla="val 1611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8ED0B708-06B4-4FF6-8DAB-6497152554AF}">
      <dsp:nvSpPr>
        <dsp:cNvPr id="0" name=""/>
        <dsp:cNvSpPr/>
      </dsp:nvSpPr>
      <dsp:spPr>
        <a:xfrm>
          <a:off x="181917" y="1795046"/>
          <a:ext cx="1631412" cy="1430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Trust Account – </a:t>
          </a:r>
          <a:r>
            <a:rPr lang="en-US" sz="1600" i="1" kern="1200" dirty="0">
              <a:solidFill>
                <a:schemeClr val="bg2">
                  <a:lumMod val="50000"/>
                </a:schemeClr>
              </a:solidFill>
            </a:rPr>
            <a:t>HSBC own, not require investor to open AC with HSBC</a:t>
          </a:r>
          <a:endParaRPr lang="en-US" sz="2000" i="1" kern="1200" dirty="0">
            <a:solidFill>
              <a:schemeClr val="bg2">
                <a:lumMod val="50000"/>
              </a:schemeClr>
            </a:solidFill>
          </a:endParaRPr>
        </a:p>
      </dsp:txBody>
      <dsp:txXfrm>
        <a:off x="181917" y="1795046"/>
        <a:ext cx="1631412" cy="1430028"/>
      </dsp:txXfrm>
    </dsp:sp>
    <dsp:sp modelId="{64B5E19B-6005-4955-BDF9-5C0765F8A11C}">
      <dsp:nvSpPr>
        <dsp:cNvPr id="0" name=""/>
        <dsp:cNvSpPr/>
      </dsp:nvSpPr>
      <dsp:spPr>
        <a:xfrm>
          <a:off x="1505515" y="1122091"/>
          <a:ext cx="307813" cy="307813"/>
        </a:xfrm>
        <a:prstGeom prst="triangle">
          <a:avLst>
            <a:gd name="adj" fmla="val 10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1A9004FC-7B9E-49DC-B099-86243D382DC4}">
      <dsp:nvSpPr>
        <dsp:cNvPr id="0" name=""/>
        <dsp:cNvSpPr/>
      </dsp:nvSpPr>
      <dsp:spPr>
        <a:xfrm rot="5400000">
          <a:off x="2360361" y="760927"/>
          <a:ext cx="1085980" cy="1807047"/>
        </a:xfrm>
        <a:prstGeom prst="corner">
          <a:avLst>
            <a:gd name="adj1" fmla="val 16120"/>
            <a:gd name="adj2" fmla="val 1611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9256275A-4FDA-4288-BB78-2314D3E69133}">
      <dsp:nvSpPr>
        <dsp:cNvPr id="0" name=""/>
        <dsp:cNvSpPr/>
      </dsp:nvSpPr>
      <dsp:spPr>
        <a:xfrm>
          <a:off x="2179084" y="1300844"/>
          <a:ext cx="1631412" cy="1430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Escrow Account -</a:t>
          </a:r>
          <a:r>
            <a:rPr lang="en-US" sz="1600" i="1" kern="1200" dirty="0">
              <a:solidFill>
                <a:srgbClr val="E7E6E6">
                  <a:lumMod val="50000"/>
                </a:srgbClr>
              </a:solidFill>
              <a:latin typeface="Segoe UI"/>
              <a:ea typeface="+mn-ea"/>
              <a:cs typeface="+mn-cs"/>
            </a:rPr>
            <a:t>Not require Investor Confirmation for every Debit</a:t>
          </a:r>
        </a:p>
      </dsp:txBody>
      <dsp:txXfrm>
        <a:off x="2179084" y="1300844"/>
        <a:ext cx="1631412" cy="1430028"/>
      </dsp:txXfrm>
    </dsp:sp>
    <dsp:sp modelId="{316C86B6-498D-423E-B08B-B1934990F58B}">
      <dsp:nvSpPr>
        <dsp:cNvPr id="0" name=""/>
        <dsp:cNvSpPr/>
      </dsp:nvSpPr>
      <dsp:spPr>
        <a:xfrm>
          <a:off x="3502683" y="627890"/>
          <a:ext cx="307813" cy="307813"/>
        </a:xfrm>
        <a:prstGeom prst="triangle">
          <a:avLst>
            <a:gd name="adj" fmla="val 10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245DB225-0122-4017-A33E-F0A747CB5982}">
      <dsp:nvSpPr>
        <dsp:cNvPr id="0" name=""/>
        <dsp:cNvSpPr/>
      </dsp:nvSpPr>
      <dsp:spPr>
        <a:xfrm rot="5400000">
          <a:off x="4357528" y="266726"/>
          <a:ext cx="1085980" cy="1807047"/>
        </a:xfrm>
        <a:prstGeom prst="corner">
          <a:avLst>
            <a:gd name="adj1" fmla="val 16120"/>
            <a:gd name="adj2" fmla="val 1611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FCF8BC38-EE6F-42CA-9217-09F83B87997F}">
      <dsp:nvSpPr>
        <dsp:cNvPr id="0" name=""/>
        <dsp:cNvSpPr/>
      </dsp:nvSpPr>
      <dsp:spPr>
        <a:xfrm>
          <a:off x="4176251" y="806643"/>
          <a:ext cx="1631412" cy="1430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Escrow Account – </a:t>
          </a:r>
          <a:r>
            <a:rPr lang="en-US" sz="1600" i="1" kern="1200" dirty="0">
              <a:solidFill>
                <a:srgbClr val="E7E6E6">
                  <a:lumMod val="50000"/>
                </a:srgbClr>
              </a:solidFill>
              <a:latin typeface="Segoe UI"/>
              <a:ea typeface="+mn-ea"/>
              <a:cs typeface="+mn-cs"/>
            </a:rPr>
            <a:t>Require Investor Confirmation for every Debit</a:t>
          </a:r>
        </a:p>
      </dsp:txBody>
      <dsp:txXfrm>
        <a:off x="4176251" y="806643"/>
        <a:ext cx="1631412" cy="1430028"/>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3/17/2021</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3/17/2021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3/17/2021</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3/17/2021</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HSBC Escrow / Trust Solution Analysis</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Mar 2021</a:t>
            </a:r>
          </a:p>
        </p:txBody>
      </p:sp>
      <p:pic>
        <p:nvPicPr>
          <p:cNvPr id="4" name="Picture 3"/>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BBC15-8C90-4278-9A0E-E5D62F41A3B3}"/>
              </a:ext>
            </a:extLst>
          </p:cNvPr>
          <p:cNvSpPr>
            <a:spLocks noGrp="1"/>
          </p:cNvSpPr>
          <p:nvPr>
            <p:ph type="title"/>
          </p:nvPr>
        </p:nvSpPr>
        <p:spPr/>
        <p:txBody>
          <a:bodyPr/>
          <a:lstStyle/>
          <a:p>
            <a:r>
              <a:rPr lang="en-US" dirty="0"/>
              <a:t>Account Type – Pro/Con Analysis</a:t>
            </a:r>
          </a:p>
        </p:txBody>
      </p:sp>
      <p:graphicFrame>
        <p:nvGraphicFramePr>
          <p:cNvPr id="4" name="Diagram 3">
            <a:extLst>
              <a:ext uri="{FF2B5EF4-FFF2-40B4-BE49-F238E27FC236}">
                <a16:creationId xmlns:a16="http://schemas.microsoft.com/office/drawing/2014/main" id="{802E00ED-7C82-44D6-B3A4-A9DFA5937FB4}"/>
              </a:ext>
            </a:extLst>
          </p:cNvPr>
          <p:cNvGraphicFramePr/>
          <p:nvPr>
            <p:extLst>
              <p:ext uri="{D42A27DB-BD31-4B8C-83A1-F6EECF244321}">
                <p14:modId xmlns:p14="http://schemas.microsoft.com/office/powerpoint/2010/main" val="3836712896"/>
              </p:ext>
            </p:extLst>
          </p:nvPr>
        </p:nvGraphicFramePr>
        <p:xfrm>
          <a:off x="3296023" y="1770542"/>
          <a:ext cx="5810325" cy="3852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Arrow Connector 5">
            <a:extLst>
              <a:ext uri="{FF2B5EF4-FFF2-40B4-BE49-F238E27FC236}">
                <a16:creationId xmlns:a16="http://schemas.microsoft.com/office/drawing/2014/main" id="{69558676-77A5-44E1-B5D0-5329CBAB575B}"/>
              </a:ext>
            </a:extLst>
          </p:cNvPr>
          <p:cNvCxnSpPr>
            <a:cxnSpLocks/>
          </p:cNvCxnSpPr>
          <p:nvPr/>
        </p:nvCxnSpPr>
        <p:spPr>
          <a:xfrm flipV="1">
            <a:off x="1850316" y="1602888"/>
            <a:ext cx="5238974" cy="226986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E2D28184-B2F9-4AED-850B-9D7B4B8D9B77}"/>
              </a:ext>
            </a:extLst>
          </p:cNvPr>
          <p:cNvSpPr txBox="1">
            <a:spLocks/>
          </p:cNvSpPr>
          <p:nvPr/>
        </p:nvSpPr>
        <p:spPr>
          <a:xfrm rot="20216122">
            <a:off x="1431316" y="2305045"/>
            <a:ext cx="5478134" cy="596177"/>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n-US" sz="1800" dirty="0">
                <a:solidFill>
                  <a:srgbClr val="0070C0"/>
                </a:solidFill>
              </a:rPr>
              <a:t>HSBC Risk management and Compliance Approval</a:t>
            </a:r>
          </a:p>
        </p:txBody>
      </p:sp>
      <p:cxnSp>
        <p:nvCxnSpPr>
          <p:cNvPr id="9" name="Straight Arrow Connector 8">
            <a:extLst>
              <a:ext uri="{FF2B5EF4-FFF2-40B4-BE49-F238E27FC236}">
                <a16:creationId xmlns:a16="http://schemas.microsoft.com/office/drawing/2014/main" id="{7EC38E8E-C8A6-4650-8383-0598CBBA7B13}"/>
              </a:ext>
            </a:extLst>
          </p:cNvPr>
          <p:cNvCxnSpPr>
            <a:cxnSpLocks/>
          </p:cNvCxnSpPr>
          <p:nvPr/>
        </p:nvCxnSpPr>
        <p:spPr>
          <a:xfrm flipV="1">
            <a:off x="3959766" y="3396360"/>
            <a:ext cx="6143970" cy="270291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6CDD7F0-39F8-4B39-95DF-648CF8055BC0}"/>
              </a:ext>
            </a:extLst>
          </p:cNvPr>
          <p:cNvSpPr txBox="1">
            <a:spLocks/>
          </p:cNvSpPr>
          <p:nvPr/>
        </p:nvSpPr>
        <p:spPr>
          <a:xfrm rot="20216122">
            <a:off x="5155377" y="4448076"/>
            <a:ext cx="6195220" cy="754927"/>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n-US" sz="1800" dirty="0">
                <a:solidFill>
                  <a:srgbClr val="0070C0"/>
                </a:solidFill>
              </a:rPr>
              <a:t>User Experience  / Client Onboard / </a:t>
            </a:r>
            <a:br>
              <a:rPr lang="en-US" sz="1800" dirty="0">
                <a:solidFill>
                  <a:srgbClr val="0070C0"/>
                </a:solidFill>
              </a:rPr>
            </a:br>
            <a:r>
              <a:rPr lang="en-US" sz="1800" dirty="0">
                <a:solidFill>
                  <a:srgbClr val="0070C0"/>
                </a:solidFill>
              </a:rPr>
              <a:t>System Integration / Ongoing Operation </a:t>
            </a:r>
          </a:p>
        </p:txBody>
      </p:sp>
    </p:spTree>
    <p:extLst>
      <p:ext uri="{BB962C8B-B14F-4D97-AF65-F5344CB8AC3E}">
        <p14:creationId xmlns:p14="http://schemas.microsoft.com/office/powerpoint/2010/main" val="3457406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D2ED2-6994-4DF6-BD89-75DBCD5B0A88}"/>
              </a:ext>
            </a:extLst>
          </p:cNvPr>
          <p:cNvSpPr>
            <a:spLocks noGrp="1"/>
          </p:cNvSpPr>
          <p:nvPr>
            <p:ph type="title"/>
          </p:nvPr>
        </p:nvSpPr>
        <p:spPr/>
        <p:txBody>
          <a:bodyPr/>
          <a:lstStyle/>
          <a:p>
            <a:r>
              <a:rPr lang="en-US" dirty="0"/>
              <a:t>Investor relationship with HSBC</a:t>
            </a:r>
          </a:p>
        </p:txBody>
      </p:sp>
      <p:graphicFrame>
        <p:nvGraphicFramePr>
          <p:cNvPr id="4" name="Table 4">
            <a:extLst>
              <a:ext uri="{FF2B5EF4-FFF2-40B4-BE49-F238E27FC236}">
                <a16:creationId xmlns:a16="http://schemas.microsoft.com/office/drawing/2014/main" id="{7028670A-520F-49C7-8019-5A6DE2E5161C}"/>
              </a:ext>
            </a:extLst>
          </p:cNvPr>
          <p:cNvGraphicFramePr>
            <a:graphicFrameLocks noGrp="1"/>
          </p:cNvGraphicFramePr>
          <p:nvPr>
            <p:ph sz="quarter" idx="10"/>
            <p:extLst>
              <p:ext uri="{D42A27DB-BD31-4B8C-83A1-F6EECF244321}">
                <p14:modId xmlns:p14="http://schemas.microsoft.com/office/powerpoint/2010/main" val="3945145967"/>
              </p:ext>
            </p:extLst>
          </p:nvPr>
        </p:nvGraphicFramePr>
        <p:xfrm>
          <a:off x="624072" y="1461994"/>
          <a:ext cx="8814024" cy="3221963"/>
        </p:xfrm>
        <a:graphic>
          <a:graphicData uri="http://schemas.openxmlformats.org/drawingml/2006/table">
            <a:tbl>
              <a:tblPr firstRow="1" bandRow="1">
                <a:tableStyleId>{5C22544A-7EE6-4342-B048-85BDC9FD1C3A}</a:tableStyleId>
              </a:tblPr>
              <a:tblGrid>
                <a:gridCol w="2816636">
                  <a:extLst>
                    <a:ext uri="{9D8B030D-6E8A-4147-A177-3AD203B41FA5}">
                      <a16:colId xmlns:a16="http://schemas.microsoft.com/office/drawing/2014/main" val="3771617740"/>
                    </a:ext>
                  </a:extLst>
                </a:gridCol>
                <a:gridCol w="5997388">
                  <a:extLst>
                    <a:ext uri="{9D8B030D-6E8A-4147-A177-3AD203B41FA5}">
                      <a16:colId xmlns:a16="http://schemas.microsoft.com/office/drawing/2014/main" val="2133566001"/>
                    </a:ext>
                  </a:extLst>
                </a:gridCol>
              </a:tblGrid>
              <a:tr h="920825">
                <a:tc>
                  <a:txBody>
                    <a:bodyPr/>
                    <a:lstStyle/>
                    <a:p>
                      <a:pPr algn="ctr"/>
                      <a:r>
                        <a:rPr lang="en-US" dirty="0"/>
                        <a:t>Institutional Investor Background</a:t>
                      </a:r>
                    </a:p>
                  </a:txBody>
                  <a:tcPr anchor="ctr"/>
                </a:tc>
                <a:tc>
                  <a:txBody>
                    <a:bodyPr/>
                    <a:lstStyle/>
                    <a:p>
                      <a:pPr algn="ctr"/>
                      <a:r>
                        <a:rPr lang="en-US" dirty="0"/>
                        <a:t>Escrow Account Opening </a:t>
                      </a:r>
                    </a:p>
                    <a:p>
                      <a:pPr algn="ctr"/>
                      <a:r>
                        <a:rPr lang="en-US" dirty="0"/>
                        <a:t>KYC/AML /Document process</a:t>
                      </a:r>
                    </a:p>
                  </a:txBody>
                  <a:tcPr anchor="ctr"/>
                </a:tc>
                <a:extLst>
                  <a:ext uri="{0D108BD9-81ED-4DB2-BD59-A6C34878D82A}">
                    <a16:rowId xmlns:a16="http://schemas.microsoft.com/office/drawing/2014/main" val="1284191604"/>
                  </a:ext>
                </a:extLst>
              </a:tr>
              <a:tr h="682239">
                <a:tc>
                  <a:txBody>
                    <a:bodyPr/>
                    <a:lstStyle/>
                    <a:p>
                      <a:pPr algn="ctr"/>
                      <a:r>
                        <a:rPr lang="en-US" dirty="0"/>
                        <a:t>Existing HSBC SG Customer</a:t>
                      </a:r>
                    </a:p>
                  </a:txBody>
                  <a:tcPr anchor="ctr"/>
                </a:tc>
                <a:tc>
                  <a:txBody>
                    <a:bodyPr/>
                    <a:lstStyle/>
                    <a:p>
                      <a:pPr algn="ctr"/>
                      <a:r>
                        <a:rPr lang="en-US" dirty="0"/>
                        <a:t>Simple</a:t>
                      </a:r>
                    </a:p>
                  </a:txBody>
                  <a:tcPr anchor="ctr"/>
                </a:tc>
                <a:extLst>
                  <a:ext uri="{0D108BD9-81ED-4DB2-BD59-A6C34878D82A}">
                    <a16:rowId xmlns:a16="http://schemas.microsoft.com/office/drawing/2014/main" val="77265361"/>
                  </a:ext>
                </a:extLst>
              </a:tr>
              <a:tr h="936660">
                <a:tc>
                  <a:txBody>
                    <a:bodyPr/>
                    <a:lstStyle/>
                    <a:p>
                      <a:pPr algn="ctr"/>
                      <a:r>
                        <a:rPr lang="en-US" dirty="0"/>
                        <a:t>Existing HSBC Other Country’s Customer</a:t>
                      </a:r>
                    </a:p>
                  </a:txBody>
                  <a:tcPr anchor="ctr"/>
                </a:tc>
                <a:tc>
                  <a:txBody>
                    <a:bodyPr/>
                    <a:lstStyle/>
                    <a:p>
                      <a:pPr algn="ctr"/>
                      <a:r>
                        <a:rPr lang="en-US" dirty="0"/>
                        <a:t>Medium</a:t>
                      </a:r>
                    </a:p>
                  </a:txBody>
                  <a:tcPr anchor="ctr"/>
                </a:tc>
                <a:extLst>
                  <a:ext uri="{0D108BD9-81ED-4DB2-BD59-A6C34878D82A}">
                    <a16:rowId xmlns:a16="http://schemas.microsoft.com/office/drawing/2014/main" val="210744360"/>
                  </a:ext>
                </a:extLst>
              </a:tr>
              <a:tr h="682239">
                <a:tc>
                  <a:txBody>
                    <a:bodyPr/>
                    <a:lstStyle/>
                    <a:p>
                      <a:pPr algn="ctr"/>
                      <a:r>
                        <a:rPr lang="en-US" dirty="0"/>
                        <a:t>Non-HSBC Customer</a:t>
                      </a:r>
                    </a:p>
                  </a:txBody>
                  <a:tcPr anchor="ctr"/>
                </a:tc>
                <a:tc>
                  <a:txBody>
                    <a:bodyPr/>
                    <a:lstStyle/>
                    <a:p>
                      <a:pPr algn="ctr"/>
                      <a:r>
                        <a:rPr lang="en-US" dirty="0"/>
                        <a:t>Complex</a:t>
                      </a:r>
                    </a:p>
                  </a:txBody>
                  <a:tcPr anchor="ctr"/>
                </a:tc>
                <a:extLst>
                  <a:ext uri="{0D108BD9-81ED-4DB2-BD59-A6C34878D82A}">
                    <a16:rowId xmlns:a16="http://schemas.microsoft.com/office/drawing/2014/main" val="416540761"/>
                  </a:ext>
                </a:extLst>
              </a:tr>
            </a:tbl>
          </a:graphicData>
        </a:graphic>
      </p:graphicFrame>
      <p:sp>
        <p:nvSpPr>
          <p:cNvPr id="5" name="Content Placeholder 2">
            <a:extLst>
              <a:ext uri="{FF2B5EF4-FFF2-40B4-BE49-F238E27FC236}">
                <a16:creationId xmlns:a16="http://schemas.microsoft.com/office/drawing/2014/main" id="{2AC76089-AA27-4157-AF29-E6FB6C2A65FF}"/>
              </a:ext>
            </a:extLst>
          </p:cNvPr>
          <p:cNvSpPr txBox="1">
            <a:spLocks/>
          </p:cNvSpPr>
          <p:nvPr/>
        </p:nvSpPr>
        <p:spPr>
          <a:xfrm>
            <a:off x="806823" y="4937758"/>
            <a:ext cx="8729702" cy="1286307"/>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a:lnSpc>
                <a:spcPct val="100000"/>
              </a:lnSpc>
            </a:pPr>
            <a:r>
              <a:rPr lang="en-HK" sz="2000" b="1" dirty="0">
                <a:solidFill>
                  <a:schemeClr val="bg2">
                    <a:lumMod val="50000"/>
                  </a:schemeClr>
                </a:solidFill>
              </a:rPr>
              <a:t>Notes:</a:t>
            </a:r>
            <a:br>
              <a:rPr lang="en-HK" sz="1800" dirty="0">
                <a:solidFill>
                  <a:schemeClr val="bg2">
                    <a:lumMod val="50000"/>
                  </a:schemeClr>
                </a:solidFill>
              </a:rPr>
            </a:br>
            <a:r>
              <a:rPr lang="en-HK" sz="1800" i="1" dirty="0">
                <a:solidFill>
                  <a:schemeClr val="bg2">
                    <a:lumMod val="50000"/>
                  </a:schemeClr>
                </a:solidFill>
              </a:rPr>
              <a:t>To quickly start the sandbox express testing, recommend to find intuitional investors who have already opened A/C with HSBC SG. </a:t>
            </a:r>
          </a:p>
        </p:txBody>
      </p:sp>
    </p:spTree>
    <p:extLst>
      <p:ext uri="{BB962C8B-B14F-4D97-AF65-F5344CB8AC3E}">
        <p14:creationId xmlns:p14="http://schemas.microsoft.com/office/powerpoint/2010/main" val="4263697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04513"/>
            <a:ext cx="6877119" cy="640080"/>
          </a:xfrm>
        </p:spPr>
        <p:txBody>
          <a:bodyPr>
            <a:noAutofit/>
          </a:bodyPr>
          <a:lstStyle/>
          <a:p>
            <a:r>
              <a:rPr lang="en-US" altLang="zh-CN" dirty="0">
                <a:latin typeface="Segoe UI Light" panose="020B0502040204020203" pitchFamily="34" charset="0"/>
                <a:cs typeface="Segoe UI Light" panose="020B0502040204020203" pitchFamily="34" charset="0"/>
              </a:rPr>
              <a:t>Trust Account vs. Escrow Account</a:t>
            </a:r>
            <a:endParaRPr lang="en-US" dirty="0">
              <a:latin typeface="Segoe UI Light" panose="020B0502040204020203" pitchFamily="34" charset="0"/>
              <a:cs typeface="Segoe UI Light" panose="020B0502040204020203" pitchFamily="34" charset="0"/>
            </a:endParaRPr>
          </a:p>
        </p:txBody>
      </p:sp>
      <p:graphicFrame>
        <p:nvGraphicFramePr>
          <p:cNvPr id="2" name="Table 2">
            <a:extLst>
              <a:ext uri="{FF2B5EF4-FFF2-40B4-BE49-F238E27FC236}">
                <a16:creationId xmlns:a16="http://schemas.microsoft.com/office/drawing/2014/main" id="{3DFAE1CB-5FCA-404A-B956-2DFC0934FFDC}"/>
              </a:ext>
            </a:extLst>
          </p:cNvPr>
          <p:cNvGraphicFramePr>
            <a:graphicFrameLocks noGrp="1"/>
          </p:cNvGraphicFramePr>
          <p:nvPr>
            <p:extLst>
              <p:ext uri="{D42A27DB-BD31-4B8C-83A1-F6EECF244321}">
                <p14:modId xmlns:p14="http://schemas.microsoft.com/office/powerpoint/2010/main" val="1150580705"/>
              </p:ext>
            </p:extLst>
          </p:nvPr>
        </p:nvGraphicFramePr>
        <p:xfrm>
          <a:off x="682171" y="1427237"/>
          <a:ext cx="10856686" cy="4727348"/>
        </p:xfrm>
        <a:graphic>
          <a:graphicData uri="http://schemas.openxmlformats.org/drawingml/2006/table">
            <a:tbl>
              <a:tblPr firstRow="1" bandRow="1">
                <a:tableStyleId>{5C22544A-7EE6-4342-B048-85BDC9FD1C3A}</a:tableStyleId>
              </a:tblPr>
              <a:tblGrid>
                <a:gridCol w="732972">
                  <a:extLst>
                    <a:ext uri="{9D8B030D-6E8A-4147-A177-3AD203B41FA5}">
                      <a16:colId xmlns:a16="http://schemas.microsoft.com/office/drawing/2014/main" val="3616273740"/>
                    </a:ext>
                  </a:extLst>
                </a:gridCol>
                <a:gridCol w="4844143">
                  <a:extLst>
                    <a:ext uri="{9D8B030D-6E8A-4147-A177-3AD203B41FA5}">
                      <a16:colId xmlns:a16="http://schemas.microsoft.com/office/drawing/2014/main" val="4293887839"/>
                    </a:ext>
                  </a:extLst>
                </a:gridCol>
                <a:gridCol w="5279571">
                  <a:extLst>
                    <a:ext uri="{9D8B030D-6E8A-4147-A177-3AD203B41FA5}">
                      <a16:colId xmlns:a16="http://schemas.microsoft.com/office/drawing/2014/main" val="855426495"/>
                    </a:ext>
                  </a:extLst>
                </a:gridCol>
              </a:tblGrid>
              <a:tr h="612548">
                <a:tc>
                  <a:txBody>
                    <a:bodyPr/>
                    <a:lstStyle/>
                    <a:p>
                      <a:endParaRPr lang="en-US" sz="1200"/>
                    </a:p>
                  </a:txBody>
                  <a:tcPr/>
                </a:tc>
                <a:tc>
                  <a:txBody>
                    <a:bodyPr/>
                    <a:lstStyle/>
                    <a:p>
                      <a:r>
                        <a:rPr lang="en-US" sz="1200" dirty="0"/>
                        <a:t>Escrow Account</a:t>
                      </a:r>
                    </a:p>
                  </a:txBody>
                  <a:tcPr/>
                </a:tc>
                <a:tc>
                  <a:txBody>
                    <a:bodyPr/>
                    <a:lstStyle/>
                    <a:p>
                      <a:r>
                        <a:rPr lang="en-US" sz="1200" dirty="0"/>
                        <a:t>Trust Account</a:t>
                      </a:r>
                    </a:p>
                  </a:txBody>
                  <a:tcPr/>
                </a:tc>
                <a:extLst>
                  <a:ext uri="{0D108BD9-81ED-4DB2-BD59-A6C34878D82A}">
                    <a16:rowId xmlns:a16="http://schemas.microsoft.com/office/drawing/2014/main" val="501988682"/>
                  </a:ext>
                </a:extLst>
              </a:tr>
              <a:tr h="612548">
                <a:tc>
                  <a:txBody>
                    <a:bodyPr/>
                    <a:lstStyle/>
                    <a:p>
                      <a:r>
                        <a:rPr lang="zh-CN" altLang="en-US" sz="1200" dirty="0"/>
                        <a:t>定义</a:t>
                      </a:r>
                      <a:endParaRPr lang="en-US" sz="1200" dirty="0"/>
                    </a:p>
                  </a:txBody>
                  <a:tcPr/>
                </a:tc>
                <a:tc>
                  <a:txBody>
                    <a:bodyPr/>
                    <a:lstStyle/>
                    <a:p>
                      <a:r>
                        <a:rPr lang="en-US" sz="1200" dirty="0"/>
                        <a:t>An escrow account is a third party account where funds are kept before they are transferred to the ultimate party. It provides security against scams and frauds especially with high asset value and dispute-prone sectors like Real Estate.</a:t>
                      </a:r>
                    </a:p>
                    <a:p>
                      <a:r>
                        <a:rPr lang="en-US" sz="1200" dirty="0"/>
                        <a:t>Escrow-based payments have been around for years and are not new. However, they have mostly been restricted to large transactions, like mergers and acquisitions, cross-border deals, etc. Industry experts say, with new technology and the rise of the internet-based economy, this instrument is used by stakeholders from several sectors to have safe and secure transactions.</a:t>
                      </a:r>
                    </a:p>
                    <a:p>
                      <a:endParaRPr lang="en-US" sz="1200" dirty="0"/>
                    </a:p>
                    <a:p>
                      <a:r>
                        <a:rPr lang="en-US" sz="1200" dirty="0"/>
                        <a:t>Escrow accounts are a financial instrument in which an asset or escrow money is held by a third party on behalf of 2 other parties that are in the process of completing a transaction. Escrow accounts can hold money, securities, funds, and other assets.</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dk1"/>
                          </a:solidFill>
                          <a:effectLst/>
                          <a:latin typeface="+mn-lt"/>
                          <a:ea typeface="+mn-ea"/>
                          <a:cs typeface="+mn-cs"/>
                        </a:rPr>
                        <a:t>监管账户对于所有资金和资产的交割存在时间差的交易，都存在应用的价值。可以有效的弥合交易中双方的不信任和不确定因素。在订金、对价调整、押金、税务成本、对赌、尾款交割等场景都有广泛的应用。尽管这个产品不能完美的规避所有的道德风险，或满足全部场景下的各种需求，但仍然可以在众多交易安排中，提高对手方之间的执行力。</a:t>
                      </a:r>
                      <a:endParaRPr lang="en-US" sz="1200" dirty="0"/>
                    </a:p>
                    <a:p>
                      <a:endParaRPr lang="en-US" sz="1200" dirty="0"/>
                    </a:p>
                  </a:txBody>
                  <a:tcPr/>
                </a:tc>
                <a:tc>
                  <a:txBody>
                    <a:bodyPr/>
                    <a:lstStyle/>
                    <a:p>
                      <a:r>
                        <a:rPr lang="en-US" sz="1200" dirty="0"/>
                        <a:t>A trust account is a legal arrangement through which funds or assets are held by a third party (the trustee) for the benefit of another party (the beneficiary). The beneficiary may be an individual or a group. The creator of the trust is known as a grantor or settlor.</a:t>
                      </a:r>
                    </a:p>
                    <a:p>
                      <a:endParaRPr lang="en-US" sz="1200" dirty="0"/>
                    </a:p>
                    <a:p>
                      <a:r>
                        <a:rPr lang="en-US" sz="1200" dirty="0"/>
                        <a:t>Here are some of the main features of a trust:</a:t>
                      </a:r>
                    </a:p>
                    <a:p>
                      <a:endParaRPr lang="en-US" sz="1200" dirty="0"/>
                    </a:p>
                    <a:p>
                      <a:r>
                        <a:rPr lang="en-US" sz="1200" dirty="0"/>
                        <a:t>Ownership of the assets must be transferred to the trust. The trust has no power until this occurs. The action is called “funding the trust."</a:t>
                      </a:r>
                    </a:p>
                    <a:p>
                      <a:r>
                        <a:rPr lang="en-US" sz="1200" dirty="0"/>
                        <a:t>The trustee must be a mentally competent adult and can be anyone the grantor trusts and who has accepted the responsibility of handling the trust account.</a:t>
                      </a:r>
                    </a:p>
                    <a:p>
                      <a:r>
                        <a:rPr lang="en-US" sz="1200" dirty="0"/>
                        <a:t>Subject to the terms of an agreement that states otherwise, the trustee has the authority to make changes to the account, including to transfer assets, close the account, open a sub-account, and name additional beneficiaries or another successor trustee.</a:t>
                      </a:r>
                    </a:p>
                    <a:p>
                      <a:r>
                        <a:rPr lang="en-US" sz="1200" dirty="0"/>
                        <a:t>The trustee has a fiduciary duty to consider the best interests of the beneficiaries first in any decisions.</a:t>
                      </a:r>
                    </a:p>
                    <a:p>
                      <a:r>
                        <a:rPr lang="en-US" sz="1200" dirty="0"/>
                        <a:t>The trustee is responsible for annual tax returns and may be required to file regular accountings at the request of beneficiaries, depending on state law.</a:t>
                      </a:r>
                    </a:p>
                    <a:p>
                      <a:r>
                        <a:rPr lang="en-US" sz="1200" dirty="0"/>
                        <a:t>All distributions to the trust beneficiary and other related expenses must be paid from the trust account.</a:t>
                      </a:r>
                    </a:p>
                  </a:txBody>
                  <a:tcPr/>
                </a:tc>
                <a:extLst>
                  <a:ext uri="{0D108BD9-81ED-4DB2-BD59-A6C34878D82A}">
                    <a16:rowId xmlns:a16="http://schemas.microsoft.com/office/drawing/2014/main" val="1179692728"/>
                  </a:ext>
                </a:extLst>
              </a:tr>
            </a:tbl>
          </a:graphicData>
        </a:graphic>
      </p:graphicFrame>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8AF47-ECB4-4E02-8782-048358B80FEF}"/>
              </a:ext>
            </a:extLst>
          </p:cNvPr>
          <p:cNvSpPr>
            <a:spLocks noGrp="1"/>
          </p:cNvSpPr>
          <p:nvPr>
            <p:ph type="title"/>
          </p:nvPr>
        </p:nvSpPr>
        <p:spPr/>
        <p:txBody>
          <a:bodyPr/>
          <a:lstStyle/>
          <a:p>
            <a:r>
              <a:rPr lang="en-HK" dirty="0"/>
              <a:t>Account Structure</a:t>
            </a:r>
            <a:endParaRPr lang="en-US" dirty="0"/>
          </a:p>
        </p:txBody>
      </p:sp>
      <p:sp>
        <p:nvSpPr>
          <p:cNvPr id="3" name="Content Placeholder 2">
            <a:extLst>
              <a:ext uri="{FF2B5EF4-FFF2-40B4-BE49-F238E27FC236}">
                <a16:creationId xmlns:a16="http://schemas.microsoft.com/office/drawing/2014/main" id="{3C69FBEA-E04C-4ADA-B0D5-545B0B92F9BA}"/>
              </a:ext>
            </a:extLst>
          </p:cNvPr>
          <p:cNvSpPr>
            <a:spLocks noGrp="1"/>
          </p:cNvSpPr>
          <p:nvPr>
            <p:ph sz="quarter" idx="10"/>
          </p:nvPr>
        </p:nvSpPr>
        <p:spPr>
          <a:xfrm>
            <a:off x="539496" y="1435608"/>
            <a:ext cx="9965218" cy="4116106"/>
          </a:xfrm>
        </p:spPr>
        <p:txBody>
          <a:bodyPr>
            <a:normAutofit/>
          </a:bodyPr>
          <a:lstStyle/>
          <a:p>
            <a:pPr marL="171450" indent="-171450">
              <a:buFont typeface="Arial" panose="020B0604020202020204" pitchFamily="34" charset="0"/>
              <a:buChar char="•"/>
            </a:pPr>
            <a:r>
              <a:rPr lang="en-HK" sz="1800" dirty="0"/>
              <a:t>DIGIFT opens account with HSBC</a:t>
            </a:r>
          </a:p>
          <a:p>
            <a:pPr marL="171450" indent="-171450">
              <a:buFont typeface="Arial" panose="020B0604020202020204" pitchFamily="34" charset="0"/>
              <a:buChar char="•"/>
            </a:pPr>
            <a:r>
              <a:rPr lang="en-HK" sz="1800" dirty="0"/>
              <a:t>Investor opens ESCROW account with HSBC</a:t>
            </a:r>
          </a:p>
          <a:p>
            <a:pPr marL="171450" indent="-171450">
              <a:buFont typeface="Arial" panose="020B0604020202020204" pitchFamily="34" charset="0"/>
              <a:buChar char="•"/>
            </a:pPr>
            <a:r>
              <a:rPr lang="en-HK" sz="1800" dirty="0"/>
              <a:t>Issuer opens ESCROW account with HSBC</a:t>
            </a:r>
            <a:br>
              <a:rPr lang="en-HK" sz="1800" dirty="0"/>
            </a:br>
            <a:r>
              <a:rPr lang="en-HK" sz="1800" dirty="0"/>
              <a:t>Assume Issuer needs to do conversion between Fiat Currency an Fiat Token  to do issuer, 2</a:t>
            </a:r>
            <a:r>
              <a:rPr lang="en-HK" sz="1800" baseline="30000" dirty="0"/>
              <a:t>nd</a:t>
            </a:r>
            <a:r>
              <a:rPr lang="en-HK" sz="1800" dirty="0"/>
              <a:t> market  </a:t>
            </a:r>
            <a:r>
              <a:rPr lang="zh-CN" altLang="en-US" sz="1800" dirty="0"/>
              <a:t>做市商</a:t>
            </a:r>
            <a:r>
              <a:rPr lang="en-HK" altLang="zh-CN" sz="1800" dirty="0"/>
              <a:t>, Interest/coupon and principle payment</a:t>
            </a:r>
          </a:p>
          <a:p>
            <a:endParaRPr lang="en-HK" sz="1800" dirty="0"/>
          </a:p>
        </p:txBody>
      </p:sp>
    </p:spTree>
    <p:extLst>
      <p:ext uri="{BB962C8B-B14F-4D97-AF65-F5344CB8AC3E}">
        <p14:creationId xmlns:p14="http://schemas.microsoft.com/office/powerpoint/2010/main" val="108103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B47DF-454D-4771-8274-A4B13F2A0BCA}"/>
              </a:ext>
            </a:extLst>
          </p:cNvPr>
          <p:cNvSpPr>
            <a:spLocks noGrp="1"/>
          </p:cNvSpPr>
          <p:nvPr>
            <p:ph type="title"/>
          </p:nvPr>
        </p:nvSpPr>
        <p:spPr/>
        <p:txBody>
          <a:bodyPr/>
          <a:lstStyle/>
          <a:p>
            <a:r>
              <a:rPr lang="en-HK" dirty="0"/>
              <a:t>Escrow Account Related questions</a:t>
            </a:r>
            <a:endParaRPr lang="en-US" dirty="0"/>
          </a:p>
        </p:txBody>
      </p:sp>
      <p:pic>
        <p:nvPicPr>
          <p:cNvPr id="4" name="Content Placeholder 3">
            <a:extLst>
              <a:ext uri="{FF2B5EF4-FFF2-40B4-BE49-F238E27FC236}">
                <a16:creationId xmlns:a16="http://schemas.microsoft.com/office/drawing/2014/main" id="{0E6542E1-D0E1-4F0E-B374-58B8B299ACA9}"/>
              </a:ext>
            </a:extLst>
          </p:cNvPr>
          <p:cNvPicPr>
            <a:picLocks noGrp="1" noChangeAspect="1"/>
          </p:cNvPicPr>
          <p:nvPr>
            <p:ph sz="quarter" idx="10"/>
          </p:nvPr>
        </p:nvPicPr>
        <p:blipFill>
          <a:blip r:embed="rId2"/>
          <a:stretch>
            <a:fillRect/>
          </a:stretch>
        </p:blipFill>
        <p:spPr>
          <a:xfrm>
            <a:off x="6647840" y="2471057"/>
            <a:ext cx="5044084" cy="2601686"/>
          </a:xfrm>
          <a:prstGeom prst="rect">
            <a:avLst/>
          </a:prstGeom>
        </p:spPr>
      </p:pic>
      <p:sp>
        <p:nvSpPr>
          <p:cNvPr id="5" name="Content Placeholder 2">
            <a:extLst>
              <a:ext uri="{FF2B5EF4-FFF2-40B4-BE49-F238E27FC236}">
                <a16:creationId xmlns:a16="http://schemas.microsoft.com/office/drawing/2014/main" id="{575A6BF8-B8B3-4C0D-9D46-FF2FE33D3FD9}"/>
              </a:ext>
            </a:extLst>
          </p:cNvPr>
          <p:cNvSpPr txBox="1">
            <a:spLocks/>
          </p:cNvSpPr>
          <p:nvPr/>
        </p:nvSpPr>
        <p:spPr>
          <a:xfrm>
            <a:off x="648353" y="1435608"/>
            <a:ext cx="4895808" cy="4703935"/>
          </a:xfrm>
          <a:prstGeom prst="rect">
            <a:avLst/>
          </a:prstGeom>
        </p:spPr>
        <p:txBody>
          <a:bodyPr vert="horz" lIns="91440" tIns="45720" rIns="91440" bIns="45720" rtlCol="0">
            <a:normAutofit lnSpcReduction="10000"/>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marL="174625" lvl="1" indent="-174625">
              <a:lnSpc>
                <a:spcPct val="100000"/>
              </a:lnSpc>
              <a:spcBef>
                <a:spcPts val="0"/>
              </a:spcBef>
              <a:spcAft>
                <a:spcPts val="600"/>
              </a:spcAft>
            </a:pPr>
            <a:r>
              <a:rPr lang="en-US" sz="1400" dirty="0"/>
              <a:t>Escrow Agreements</a:t>
            </a:r>
          </a:p>
          <a:p>
            <a:pPr marL="457200" lvl="2">
              <a:lnSpc>
                <a:spcPct val="100000"/>
              </a:lnSpc>
              <a:spcBef>
                <a:spcPts val="0"/>
              </a:spcBef>
              <a:spcAft>
                <a:spcPts val="600"/>
              </a:spcAft>
            </a:pPr>
            <a:r>
              <a:rPr lang="en-US" sz="1400" dirty="0"/>
              <a:t>HSBC, DIGIFT to prepare an Escrow agreement with the special operation control arrangement and other standard escrow account T&amp;C</a:t>
            </a:r>
          </a:p>
          <a:p>
            <a:pPr marL="457200" lvl="2">
              <a:lnSpc>
                <a:spcPct val="100000"/>
              </a:lnSpc>
              <a:spcBef>
                <a:spcPts val="0"/>
              </a:spcBef>
              <a:spcAft>
                <a:spcPts val="600"/>
              </a:spcAft>
            </a:pPr>
            <a:r>
              <a:rPr lang="en-US" sz="1400" dirty="0"/>
              <a:t>When onboard every investor, does it require HSBC, DIGIFT and INVESTOR to sign the Escrow agreement?</a:t>
            </a:r>
          </a:p>
          <a:p>
            <a:pPr marL="457200" lvl="2">
              <a:lnSpc>
                <a:spcPct val="100000"/>
              </a:lnSpc>
              <a:spcBef>
                <a:spcPts val="0"/>
              </a:spcBef>
              <a:spcAft>
                <a:spcPts val="600"/>
              </a:spcAft>
            </a:pPr>
            <a:r>
              <a:rPr lang="en-US" sz="1400" dirty="0"/>
              <a:t>Does issuer require to sign the Escrow agreement, since the issuer may need Fiat Token and Asset Token in their digital wallet</a:t>
            </a:r>
          </a:p>
          <a:p>
            <a:pPr marL="0" lvl="1">
              <a:lnSpc>
                <a:spcPct val="100000"/>
              </a:lnSpc>
              <a:spcBef>
                <a:spcPts val="0"/>
              </a:spcBef>
              <a:spcAft>
                <a:spcPts val="600"/>
              </a:spcAft>
            </a:pPr>
            <a:r>
              <a:rPr lang="en-US" sz="1400" dirty="0"/>
              <a:t>Investor onboard and account opening</a:t>
            </a:r>
          </a:p>
          <a:p>
            <a:pPr marL="457200" lvl="2">
              <a:lnSpc>
                <a:spcPct val="100000"/>
              </a:lnSpc>
              <a:spcBef>
                <a:spcPts val="0"/>
              </a:spcBef>
              <a:spcAft>
                <a:spcPts val="600"/>
              </a:spcAft>
            </a:pPr>
            <a:r>
              <a:rPr lang="en-US" sz="1400" dirty="0"/>
              <a:t>If HSBC SG requires every investor to open Escrow, the processing time will be a challenge to DIGIFT sandbox express testing process.</a:t>
            </a:r>
          </a:p>
          <a:p>
            <a:pPr marL="457200" lvl="2">
              <a:lnSpc>
                <a:spcPct val="100000"/>
              </a:lnSpc>
              <a:spcBef>
                <a:spcPts val="0"/>
              </a:spcBef>
              <a:spcAft>
                <a:spcPts val="600"/>
              </a:spcAft>
            </a:pPr>
            <a:r>
              <a:rPr lang="en-US" sz="1400" dirty="0"/>
              <a:t>If the investor is a FI/NBFT institutional  investor, HSBC SG will taker a bit longer time to open the Escrow account vs. normal customer opens normal account.</a:t>
            </a:r>
          </a:p>
          <a:p>
            <a:pPr marL="457200" lvl="2">
              <a:lnSpc>
                <a:spcPct val="100000"/>
              </a:lnSpc>
              <a:spcBef>
                <a:spcPts val="0"/>
              </a:spcBef>
              <a:spcAft>
                <a:spcPts val="600"/>
              </a:spcAft>
            </a:pPr>
            <a:r>
              <a:rPr lang="en-US" sz="1400" dirty="0"/>
              <a:t>DIGIFT can look for investor who are existing customers of HSBC, especially HSBC SG. It can greatly reduce the client onboard turn around time. </a:t>
            </a:r>
          </a:p>
          <a:p>
            <a:pPr marL="457200" lvl="2">
              <a:lnSpc>
                <a:spcPct val="100000"/>
              </a:lnSpc>
              <a:spcBef>
                <a:spcPts val="0"/>
              </a:spcBef>
              <a:spcAft>
                <a:spcPts val="600"/>
              </a:spcAft>
            </a:pPr>
            <a:endParaRPr lang="en-US" sz="1400" dirty="0"/>
          </a:p>
          <a:p>
            <a:pPr marL="857250" lvl="2" indent="-171450">
              <a:lnSpc>
                <a:spcPct val="100000"/>
              </a:lnSpc>
              <a:spcBef>
                <a:spcPts val="0"/>
              </a:spcBef>
              <a:spcAft>
                <a:spcPts val="600"/>
              </a:spcAft>
            </a:pPr>
            <a:endParaRPr lang="en-US" sz="1400" dirty="0"/>
          </a:p>
          <a:p>
            <a:pPr marL="857250" lvl="2" indent="-171450">
              <a:lnSpc>
                <a:spcPct val="100000"/>
              </a:lnSpc>
              <a:spcBef>
                <a:spcPts val="0"/>
              </a:spcBef>
              <a:spcAft>
                <a:spcPts val="600"/>
              </a:spcAft>
            </a:pPr>
            <a:endParaRPr lang="en-US" sz="1400" dirty="0"/>
          </a:p>
        </p:txBody>
      </p:sp>
    </p:spTree>
    <p:extLst>
      <p:ext uri="{BB962C8B-B14F-4D97-AF65-F5344CB8AC3E}">
        <p14:creationId xmlns:p14="http://schemas.microsoft.com/office/powerpoint/2010/main" val="2168254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HK" dirty="0">
                <a:latin typeface="Segoe UI Light" panose="020B0502040204020203" pitchFamily="34" charset="0"/>
                <a:cs typeface="Segoe UI Light" panose="020B0502040204020203" pitchFamily="34" charset="0"/>
              </a:rPr>
              <a:t>Cash Deposit Process</a:t>
            </a:r>
            <a:endParaRPr lang="en-US" dirty="0">
              <a:latin typeface="Segoe UI Light" panose="020B0502040204020203" pitchFamily="34" charset="0"/>
              <a:cs typeface="Segoe UI Light" panose="020B0502040204020203" pitchFamily="34" charset="0"/>
            </a:endParaRPr>
          </a:p>
        </p:txBody>
      </p:sp>
      <p:pic>
        <p:nvPicPr>
          <p:cNvPr id="5" name="Picture 4">
            <a:extLst>
              <a:ext uri="{FF2B5EF4-FFF2-40B4-BE49-F238E27FC236}">
                <a16:creationId xmlns:a16="http://schemas.microsoft.com/office/drawing/2014/main" id="{B10859AC-5C9B-41AD-99F2-2A7F10423E5C}"/>
              </a:ext>
            </a:extLst>
          </p:cNvPr>
          <p:cNvPicPr>
            <a:picLocks noChangeAspect="1"/>
          </p:cNvPicPr>
          <p:nvPr/>
        </p:nvPicPr>
        <p:blipFill>
          <a:blip r:embed="rId2"/>
          <a:stretch>
            <a:fillRect/>
          </a:stretch>
        </p:blipFill>
        <p:spPr>
          <a:xfrm>
            <a:off x="673900" y="1544103"/>
            <a:ext cx="10844200" cy="830652"/>
          </a:xfrm>
          <a:prstGeom prst="rect">
            <a:avLst/>
          </a:prstGeom>
        </p:spPr>
      </p:pic>
      <p:sp>
        <p:nvSpPr>
          <p:cNvPr id="6" name="TextBox 5">
            <a:extLst>
              <a:ext uri="{FF2B5EF4-FFF2-40B4-BE49-F238E27FC236}">
                <a16:creationId xmlns:a16="http://schemas.microsoft.com/office/drawing/2014/main" id="{7499004F-972C-4F8C-A3E6-B3B8A0EFB7A9}"/>
              </a:ext>
            </a:extLst>
          </p:cNvPr>
          <p:cNvSpPr txBox="1"/>
          <p:nvPr/>
        </p:nvSpPr>
        <p:spPr>
          <a:xfrm>
            <a:off x="1066800" y="2928257"/>
            <a:ext cx="184731" cy="369332"/>
          </a:xfrm>
          <a:prstGeom prst="rect">
            <a:avLst/>
          </a:prstGeom>
          <a:noFill/>
        </p:spPr>
        <p:txBody>
          <a:bodyPr wrap="none" rtlCol="0">
            <a:spAutoFit/>
          </a:bodyPr>
          <a:lstStyle/>
          <a:p>
            <a:endParaRPr lang="en-US" dirty="0"/>
          </a:p>
        </p:txBody>
      </p:sp>
      <p:sp>
        <p:nvSpPr>
          <p:cNvPr id="27" name="Content Placeholder 2">
            <a:extLst>
              <a:ext uri="{FF2B5EF4-FFF2-40B4-BE49-F238E27FC236}">
                <a16:creationId xmlns:a16="http://schemas.microsoft.com/office/drawing/2014/main" id="{C5A58D2E-8B3D-40CF-9612-2DB81494C579}"/>
              </a:ext>
            </a:extLst>
          </p:cNvPr>
          <p:cNvSpPr>
            <a:spLocks noGrp="1"/>
          </p:cNvSpPr>
          <p:nvPr>
            <p:ph sz="quarter" idx="10"/>
          </p:nvPr>
        </p:nvSpPr>
        <p:spPr>
          <a:xfrm>
            <a:off x="673900" y="2425193"/>
            <a:ext cx="9965218" cy="4116106"/>
          </a:xfrm>
        </p:spPr>
        <p:txBody>
          <a:bodyPr>
            <a:normAutofit/>
          </a:bodyPr>
          <a:lstStyle/>
          <a:p>
            <a:pPr>
              <a:lnSpc>
                <a:spcPct val="100000"/>
              </a:lnSpc>
              <a:spcAft>
                <a:spcPts val="600"/>
              </a:spcAft>
            </a:pPr>
            <a:r>
              <a:rPr lang="en-HK" sz="1800" dirty="0"/>
              <a:t>Process:</a:t>
            </a:r>
          </a:p>
          <a:p>
            <a:pPr marL="285750" indent="-285750">
              <a:lnSpc>
                <a:spcPct val="100000"/>
              </a:lnSpc>
              <a:spcAft>
                <a:spcPts val="600"/>
              </a:spcAft>
              <a:buFont typeface="Arial" panose="020B0604020202020204" pitchFamily="34" charset="0"/>
              <a:buChar char="•"/>
            </a:pPr>
            <a:r>
              <a:rPr lang="en-HK" sz="1800" dirty="0"/>
              <a:t>Investor to remits investment funds through its existing bank account to new opened HSBC SG Escrow account</a:t>
            </a:r>
          </a:p>
          <a:p>
            <a:pPr marL="171450" indent="-171450">
              <a:lnSpc>
                <a:spcPct val="100000"/>
              </a:lnSpc>
              <a:spcAft>
                <a:spcPts val="600"/>
              </a:spcAft>
              <a:buFont typeface="Arial" panose="020B0604020202020204" pitchFamily="34" charset="0"/>
              <a:buChar char="•"/>
            </a:pPr>
            <a:r>
              <a:rPr lang="en-HK" sz="1800" dirty="0"/>
              <a:t>HSBC to notify DIGIFT via API, H2H, Online Banking channel.</a:t>
            </a:r>
          </a:p>
          <a:p>
            <a:pPr marL="171450" indent="-171450">
              <a:lnSpc>
                <a:spcPct val="100000"/>
              </a:lnSpc>
              <a:spcAft>
                <a:spcPts val="600"/>
              </a:spcAft>
              <a:buFont typeface="Arial" panose="020B0604020202020204" pitchFamily="34" charset="0"/>
              <a:buChar char="•"/>
            </a:pPr>
            <a:r>
              <a:rPr lang="en-HK" sz="1800" dirty="0"/>
              <a:t>DIGIFT to tokenize Fiat Cash to Fiat Token through Ethereum, Credit to investor’s Digital Wallet</a:t>
            </a:r>
          </a:p>
          <a:p>
            <a:pPr>
              <a:lnSpc>
                <a:spcPct val="100000"/>
              </a:lnSpc>
              <a:spcAft>
                <a:spcPts val="600"/>
              </a:spcAft>
            </a:pPr>
            <a:r>
              <a:rPr lang="en-HK" sz="1800" dirty="0"/>
              <a:t>Notes:</a:t>
            </a:r>
          </a:p>
          <a:p>
            <a:pPr marL="285750" indent="-285750">
              <a:lnSpc>
                <a:spcPct val="100000"/>
              </a:lnSpc>
              <a:spcAft>
                <a:spcPts val="600"/>
              </a:spcAft>
              <a:buFont typeface="Arial" panose="020B0604020202020204" pitchFamily="34" charset="0"/>
              <a:buChar char="•"/>
            </a:pPr>
            <a:r>
              <a:rPr lang="en-HK" sz="1800" dirty="0"/>
              <a:t>The balance of the investor’s HSBC Escrow account equals to the balance of the investor’s Fiat Token in his/her digital wallet</a:t>
            </a:r>
          </a:p>
          <a:p>
            <a:pPr marL="285750" indent="-285750">
              <a:lnSpc>
                <a:spcPct val="100000"/>
              </a:lnSpc>
              <a:spcAft>
                <a:spcPts val="600"/>
              </a:spcAft>
              <a:buFont typeface="Arial" panose="020B0604020202020204" pitchFamily="34" charset="0"/>
              <a:buChar char="•"/>
            </a:pPr>
            <a:r>
              <a:rPr lang="en-HK" sz="1800" dirty="0"/>
              <a:t>The total number of Fiat Token has been increased after Cash Deposit process</a:t>
            </a: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1DB02-E8D4-4ED7-91A6-A2F2256049A6}"/>
              </a:ext>
            </a:extLst>
          </p:cNvPr>
          <p:cNvSpPr>
            <a:spLocks noGrp="1"/>
          </p:cNvSpPr>
          <p:nvPr>
            <p:ph type="title"/>
          </p:nvPr>
        </p:nvSpPr>
        <p:spPr/>
        <p:txBody>
          <a:bodyPr/>
          <a:lstStyle/>
          <a:p>
            <a:r>
              <a:rPr lang="en-US" dirty="0"/>
              <a:t>Digit Assets Exchange process 1</a:t>
            </a:r>
          </a:p>
        </p:txBody>
      </p:sp>
      <p:sp>
        <p:nvSpPr>
          <p:cNvPr id="3" name="Content Placeholder 2">
            <a:extLst>
              <a:ext uri="{FF2B5EF4-FFF2-40B4-BE49-F238E27FC236}">
                <a16:creationId xmlns:a16="http://schemas.microsoft.com/office/drawing/2014/main" id="{E1CFB058-BD17-498F-90FD-06388026F82C}"/>
              </a:ext>
            </a:extLst>
          </p:cNvPr>
          <p:cNvSpPr>
            <a:spLocks noGrp="1"/>
          </p:cNvSpPr>
          <p:nvPr>
            <p:ph sz="quarter" idx="10"/>
          </p:nvPr>
        </p:nvSpPr>
        <p:spPr>
          <a:xfrm>
            <a:off x="539496" y="1435608"/>
            <a:ext cx="3216075" cy="4974336"/>
          </a:xfrm>
        </p:spPr>
        <p:txBody>
          <a:bodyPr>
            <a:normAutofit fontScale="85000" lnSpcReduction="10000"/>
          </a:bodyPr>
          <a:lstStyle/>
          <a:p>
            <a:pPr marL="171450" indent="-171450">
              <a:lnSpc>
                <a:spcPct val="100000"/>
              </a:lnSpc>
              <a:spcBef>
                <a:spcPts val="0"/>
              </a:spcBef>
              <a:spcAft>
                <a:spcPts val="600"/>
              </a:spcAft>
              <a:buFont typeface="Arial" panose="020B0604020202020204" pitchFamily="34" charset="0"/>
              <a:buChar char="•"/>
            </a:pPr>
            <a:r>
              <a:rPr lang="en-US" sz="1400" dirty="0"/>
              <a:t>Business Case </a:t>
            </a:r>
          </a:p>
          <a:p>
            <a:pPr marL="400050" lvl="1" indent="-171450">
              <a:lnSpc>
                <a:spcPct val="100000"/>
              </a:lnSpc>
              <a:spcBef>
                <a:spcPts val="0"/>
              </a:spcBef>
              <a:spcAft>
                <a:spcPts val="600"/>
              </a:spcAft>
            </a:pPr>
            <a:r>
              <a:rPr lang="en-US" sz="1400" dirty="0"/>
              <a:t>Investor A to buy asset token</a:t>
            </a:r>
          </a:p>
          <a:p>
            <a:pPr marL="400050" lvl="1" indent="-171450">
              <a:lnSpc>
                <a:spcPct val="100000"/>
              </a:lnSpc>
              <a:spcBef>
                <a:spcPts val="0"/>
              </a:spcBef>
              <a:spcAft>
                <a:spcPts val="600"/>
              </a:spcAft>
            </a:pPr>
            <a:r>
              <a:rPr lang="en-US" sz="1400" dirty="0"/>
              <a:t>Investor B to sell asset token</a:t>
            </a:r>
          </a:p>
          <a:p>
            <a:pPr marL="400050" lvl="1" indent="-171450">
              <a:lnSpc>
                <a:spcPct val="100000"/>
              </a:lnSpc>
              <a:spcBef>
                <a:spcPts val="0"/>
              </a:spcBef>
              <a:spcAft>
                <a:spcPts val="600"/>
              </a:spcAft>
            </a:pPr>
            <a:r>
              <a:rPr lang="en-US" sz="1400" dirty="0"/>
              <a:t>DIGIFT to provides exchange service an token settlement service</a:t>
            </a:r>
          </a:p>
          <a:p>
            <a:pPr marL="400050" lvl="1" indent="-171450">
              <a:lnSpc>
                <a:spcPct val="100000"/>
              </a:lnSpc>
              <a:spcBef>
                <a:spcPts val="0"/>
              </a:spcBef>
              <a:spcAft>
                <a:spcPts val="600"/>
              </a:spcAft>
            </a:pPr>
            <a:r>
              <a:rPr lang="en-US" sz="1400" dirty="0"/>
              <a:t>HSBC to provide cash settlement service</a:t>
            </a:r>
          </a:p>
          <a:p>
            <a:pPr marL="171450" indent="-171450">
              <a:lnSpc>
                <a:spcPct val="100000"/>
              </a:lnSpc>
              <a:spcBef>
                <a:spcPts val="0"/>
              </a:spcBef>
              <a:spcAft>
                <a:spcPts val="600"/>
              </a:spcAft>
              <a:buFont typeface="Arial" panose="020B0604020202020204" pitchFamily="34" charset="0"/>
              <a:buChar char="•"/>
            </a:pPr>
            <a:r>
              <a:rPr lang="en-US" sz="1400" dirty="0"/>
              <a:t>Process</a:t>
            </a:r>
          </a:p>
          <a:p>
            <a:pPr marL="400050" lvl="1" indent="-171450">
              <a:lnSpc>
                <a:spcPct val="100000"/>
              </a:lnSpc>
              <a:spcBef>
                <a:spcPts val="0"/>
              </a:spcBef>
              <a:spcAft>
                <a:spcPts val="600"/>
              </a:spcAft>
            </a:pPr>
            <a:r>
              <a:rPr lang="en-US" sz="1400" dirty="0"/>
              <a:t>Investor A/B to send buy/sell instruction through DIGIFT exchange platform. </a:t>
            </a:r>
          </a:p>
          <a:p>
            <a:pPr marL="400050" lvl="1" indent="-171450">
              <a:lnSpc>
                <a:spcPct val="100000"/>
              </a:lnSpc>
              <a:spcBef>
                <a:spcPts val="0"/>
              </a:spcBef>
              <a:spcAft>
                <a:spcPts val="600"/>
              </a:spcAft>
            </a:pPr>
            <a:r>
              <a:rPr lang="en-US" sz="1400" dirty="0"/>
              <a:t>DIGIFT platform to match buyer/seller instruction, crate the deal</a:t>
            </a:r>
          </a:p>
          <a:p>
            <a:pPr marL="400050" lvl="1" indent="-171450">
              <a:lnSpc>
                <a:spcPct val="100000"/>
              </a:lnSpc>
              <a:spcBef>
                <a:spcPts val="0"/>
              </a:spcBef>
              <a:spcAft>
                <a:spcPts val="600"/>
              </a:spcAft>
            </a:pPr>
            <a:r>
              <a:rPr lang="en-US" sz="1400" dirty="0"/>
              <a:t>DIGIFT to debit and credit Investor A/B digital wallet. </a:t>
            </a:r>
          </a:p>
          <a:p>
            <a:pPr marL="400050" lvl="1" indent="-171450">
              <a:lnSpc>
                <a:spcPct val="100000"/>
              </a:lnSpc>
              <a:spcBef>
                <a:spcPts val="0"/>
              </a:spcBef>
              <a:spcAft>
                <a:spcPts val="600"/>
              </a:spcAft>
            </a:pPr>
            <a:r>
              <a:rPr lang="en-US" sz="1400" dirty="0"/>
              <a:t>DIGIFT to deduct Fiat Token from A/B to cover transaction fees</a:t>
            </a:r>
          </a:p>
          <a:p>
            <a:pPr marL="400050" lvl="1" indent="-171450">
              <a:lnSpc>
                <a:spcPct val="100000"/>
              </a:lnSpc>
              <a:spcBef>
                <a:spcPts val="0"/>
              </a:spcBef>
              <a:spcAft>
                <a:spcPts val="600"/>
              </a:spcAft>
            </a:pPr>
            <a:r>
              <a:rPr lang="en-US" sz="1400" dirty="0"/>
              <a:t>DIGIFT to send instruction to HSBC to settle the Cash on A/B nostro account</a:t>
            </a:r>
          </a:p>
          <a:p>
            <a:pPr marL="400050" lvl="1" indent="-171450">
              <a:lnSpc>
                <a:spcPct val="100000"/>
              </a:lnSpc>
              <a:spcBef>
                <a:spcPts val="0"/>
              </a:spcBef>
              <a:spcAft>
                <a:spcPts val="600"/>
              </a:spcAft>
            </a:pPr>
            <a:r>
              <a:rPr lang="en-US" sz="1400" dirty="0"/>
              <a:t>HSBC to DR/CR the buyer/seller Escrow account. </a:t>
            </a:r>
          </a:p>
          <a:p>
            <a:pPr marL="400050" lvl="1" indent="-171450">
              <a:lnSpc>
                <a:spcPct val="100000"/>
              </a:lnSpc>
              <a:spcBef>
                <a:spcPts val="0"/>
              </a:spcBef>
              <a:spcAft>
                <a:spcPts val="600"/>
              </a:spcAft>
            </a:pPr>
            <a:r>
              <a:rPr lang="en-US" sz="1400" dirty="0"/>
              <a:t>HSBC to CR service fee to DIGIFT account</a:t>
            </a:r>
          </a:p>
          <a:p>
            <a:pPr marL="400050" lvl="1" indent="-171450">
              <a:lnSpc>
                <a:spcPct val="100000"/>
              </a:lnSpc>
              <a:spcBef>
                <a:spcPts val="0"/>
              </a:spcBef>
              <a:spcAft>
                <a:spcPts val="600"/>
              </a:spcAft>
            </a:pPr>
            <a:endParaRPr lang="en-US" sz="1400" dirty="0"/>
          </a:p>
        </p:txBody>
      </p:sp>
      <p:pic>
        <p:nvPicPr>
          <p:cNvPr id="5" name="Picture 4">
            <a:extLst>
              <a:ext uri="{FF2B5EF4-FFF2-40B4-BE49-F238E27FC236}">
                <a16:creationId xmlns:a16="http://schemas.microsoft.com/office/drawing/2014/main" id="{9393AECA-6F57-40D9-ADCE-D0B6A523D722}"/>
              </a:ext>
            </a:extLst>
          </p:cNvPr>
          <p:cNvPicPr>
            <a:picLocks noChangeAspect="1"/>
          </p:cNvPicPr>
          <p:nvPr/>
        </p:nvPicPr>
        <p:blipFill>
          <a:blip r:embed="rId2"/>
          <a:stretch>
            <a:fillRect/>
          </a:stretch>
        </p:blipFill>
        <p:spPr>
          <a:xfrm>
            <a:off x="3879307" y="1271382"/>
            <a:ext cx="7773197" cy="3142008"/>
          </a:xfrm>
          <a:prstGeom prst="rect">
            <a:avLst/>
          </a:prstGeom>
        </p:spPr>
      </p:pic>
      <p:sp>
        <p:nvSpPr>
          <p:cNvPr id="6" name="Content Placeholder 2">
            <a:extLst>
              <a:ext uri="{FF2B5EF4-FFF2-40B4-BE49-F238E27FC236}">
                <a16:creationId xmlns:a16="http://schemas.microsoft.com/office/drawing/2014/main" id="{4A8221C6-9B8B-40F3-BC32-121F3464C847}"/>
              </a:ext>
            </a:extLst>
          </p:cNvPr>
          <p:cNvSpPr txBox="1">
            <a:spLocks/>
          </p:cNvSpPr>
          <p:nvPr/>
        </p:nvSpPr>
        <p:spPr>
          <a:xfrm>
            <a:off x="3988163" y="4596635"/>
            <a:ext cx="7664341" cy="1934793"/>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lvl="1" indent="0">
              <a:lnSpc>
                <a:spcPct val="100000"/>
              </a:lnSpc>
              <a:spcBef>
                <a:spcPts val="0"/>
              </a:spcBef>
              <a:spcAft>
                <a:spcPts val="600"/>
              </a:spcAft>
              <a:buNone/>
            </a:pPr>
            <a:r>
              <a:rPr lang="en-US" sz="1400" dirty="0"/>
              <a:t>Notes:</a:t>
            </a:r>
          </a:p>
          <a:p>
            <a:pPr marL="514350" lvl="1" indent="-285750">
              <a:lnSpc>
                <a:spcPct val="100000"/>
              </a:lnSpc>
              <a:spcBef>
                <a:spcPts val="0"/>
              </a:spcBef>
              <a:spcAft>
                <a:spcPts val="600"/>
              </a:spcAft>
            </a:pPr>
            <a:r>
              <a:rPr lang="en-US" sz="1400" dirty="0"/>
              <a:t>This process assumes DIGIFT can send settlement instruction to HSBC to DR/CR Escrow account between buyer/seller/DIGIFT (for service fee). </a:t>
            </a:r>
          </a:p>
          <a:p>
            <a:pPr marL="514350" lvl="1" indent="-285750">
              <a:lnSpc>
                <a:spcPct val="100000"/>
              </a:lnSpc>
              <a:spcBef>
                <a:spcPts val="0"/>
              </a:spcBef>
              <a:spcAft>
                <a:spcPts val="600"/>
              </a:spcAft>
            </a:pPr>
            <a:r>
              <a:rPr lang="en-US" sz="1400" dirty="0"/>
              <a:t>It doesn’t require investor’s consent through HSBC’s platform, assume client’s buyer/seller instruction has authorized DIGIFT/HSBC to perform it</a:t>
            </a:r>
          </a:p>
          <a:p>
            <a:pPr marL="514350" lvl="1" indent="-285750">
              <a:lnSpc>
                <a:spcPct val="100000"/>
              </a:lnSpc>
              <a:spcBef>
                <a:spcPts val="0"/>
              </a:spcBef>
              <a:spcAft>
                <a:spcPts val="600"/>
              </a:spcAft>
            </a:pPr>
            <a:r>
              <a:rPr lang="en-US" sz="1400" dirty="0"/>
              <a:t>After the transaction the total amount of Fiat Cash and Fiat Token in buyer/seller Digital Wallet match their Escrow account cash balance.</a:t>
            </a:r>
          </a:p>
          <a:p>
            <a:pPr marL="514350" lvl="1" indent="-285750">
              <a:lnSpc>
                <a:spcPct val="100000"/>
              </a:lnSpc>
              <a:spcBef>
                <a:spcPts val="0"/>
              </a:spcBef>
              <a:spcAft>
                <a:spcPts val="600"/>
              </a:spcAft>
            </a:pPr>
            <a:r>
              <a:rPr lang="en-US" sz="1400" dirty="0"/>
              <a:t>DIGIFT needs to deactivate certain number of Fiat Token with the amount equals to the exchange service charges that HSBC credit to DIGIFT’s account. This is to ensure the total Fiat Cash amount equal to all investor’s Escrow cash balance</a:t>
            </a:r>
          </a:p>
        </p:txBody>
      </p:sp>
    </p:spTree>
    <p:extLst>
      <p:ext uri="{BB962C8B-B14F-4D97-AF65-F5344CB8AC3E}">
        <p14:creationId xmlns:p14="http://schemas.microsoft.com/office/powerpoint/2010/main" val="1316116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A1BE4-3713-4AF1-B4C3-75586429476D}"/>
              </a:ext>
            </a:extLst>
          </p:cNvPr>
          <p:cNvSpPr>
            <a:spLocks noGrp="1"/>
          </p:cNvSpPr>
          <p:nvPr>
            <p:ph type="title"/>
          </p:nvPr>
        </p:nvSpPr>
        <p:spPr/>
        <p:txBody>
          <a:bodyPr/>
          <a:lstStyle/>
          <a:p>
            <a:r>
              <a:rPr lang="en-US" dirty="0"/>
              <a:t>Digit Assets Exchange process 2</a:t>
            </a:r>
          </a:p>
        </p:txBody>
      </p:sp>
      <p:sp>
        <p:nvSpPr>
          <p:cNvPr id="6" name="Content Placeholder 2">
            <a:extLst>
              <a:ext uri="{FF2B5EF4-FFF2-40B4-BE49-F238E27FC236}">
                <a16:creationId xmlns:a16="http://schemas.microsoft.com/office/drawing/2014/main" id="{00608D91-8419-4E40-8D8C-FCFD9FEF5B48}"/>
              </a:ext>
            </a:extLst>
          </p:cNvPr>
          <p:cNvSpPr txBox="1">
            <a:spLocks/>
          </p:cNvSpPr>
          <p:nvPr/>
        </p:nvSpPr>
        <p:spPr>
          <a:xfrm>
            <a:off x="521207" y="1412530"/>
            <a:ext cx="4108704" cy="4974336"/>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marL="171450" indent="-171450">
              <a:lnSpc>
                <a:spcPct val="100000"/>
              </a:lnSpc>
              <a:spcBef>
                <a:spcPts val="0"/>
              </a:spcBef>
              <a:spcAft>
                <a:spcPts val="600"/>
              </a:spcAft>
              <a:buFont typeface="Arial" panose="020B0604020202020204" pitchFamily="34" charset="0"/>
              <a:buChar char="•"/>
            </a:pPr>
            <a:r>
              <a:rPr lang="en-US" sz="1400" dirty="0"/>
              <a:t>Business Case </a:t>
            </a:r>
          </a:p>
          <a:p>
            <a:pPr marL="400050" lvl="1" indent="-280988">
              <a:lnSpc>
                <a:spcPct val="100000"/>
              </a:lnSpc>
              <a:spcBef>
                <a:spcPts val="0"/>
              </a:spcBef>
              <a:spcAft>
                <a:spcPts val="600"/>
              </a:spcAft>
            </a:pPr>
            <a:r>
              <a:rPr lang="en-US" sz="1400" dirty="0"/>
              <a:t>Same as “Digital Access Exchange Process 2”</a:t>
            </a:r>
          </a:p>
          <a:p>
            <a:pPr marL="171450" indent="-171450">
              <a:lnSpc>
                <a:spcPct val="100000"/>
              </a:lnSpc>
              <a:spcBef>
                <a:spcPts val="0"/>
              </a:spcBef>
              <a:spcAft>
                <a:spcPts val="600"/>
              </a:spcAft>
              <a:buFont typeface="Arial" panose="020B0604020202020204" pitchFamily="34" charset="0"/>
              <a:buChar char="•"/>
            </a:pPr>
            <a:r>
              <a:rPr lang="en-US" sz="1400" dirty="0"/>
              <a:t>Process</a:t>
            </a:r>
          </a:p>
          <a:p>
            <a:pPr marL="400050" lvl="1" indent="-171450">
              <a:lnSpc>
                <a:spcPct val="100000"/>
              </a:lnSpc>
              <a:spcBef>
                <a:spcPts val="0"/>
              </a:spcBef>
              <a:spcAft>
                <a:spcPts val="600"/>
              </a:spcAft>
            </a:pPr>
            <a:r>
              <a:rPr lang="en-US" sz="1400" dirty="0"/>
              <a:t>Assume it requires both DIGIFT and Investor’s explicit instruction to debit investor’s HSBC escrow account. </a:t>
            </a:r>
          </a:p>
          <a:p>
            <a:pPr marL="400050" lvl="1" indent="-171450">
              <a:lnSpc>
                <a:spcPct val="100000"/>
              </a:lnSpc>
              <a:spcBef>
                <a:spcPts val="0"/>
              </a:spcBef>
              <a:spcAft>
                <a:spcPts val="600"/>
              </a:spcAft>
            </a:pPr>
            <a:r>
              <a:rPr lang="en-US" sz="1400" dirty="0"/>
              <a:t>The addition steps to process 1</a:t>
            </a:r>
          </a:p>
          <a:p>
            <a:pPr marL="857250" lvl="2" indent="-171450">
              <a:lnSpc>
                <a:spcPct val="100000"/>
              </a:lnSpc>
              <a:spcBef>
                <a:spcPts val="0"/>
              </a:spcBef>
              <a:spcAft>
                <a:spcPts val="600"/>
              </a:spcAft>
            </a:pPr>
            <a:r>
              <a:rPr lang="en-US" sz="1400" dirty="0"/>
              <a:t>HSBC to provide a platform (i.e. Online platform, or manual instruction channel), to allow investor to send the confirmation to deduct their Escrow account</a:t>
            </a:r>
          </a:p>
          <a:p>
            <a:pPr marL="857250" lvl="2" indent="-171450">
              <a:lnSpc>
                <a:spcPct val="100000"/>
              </a:lnSpc>
              <a:spcBef>
                <a:spcPts val="0"/>
              </a:spcBef>
              <a:spcAft>
                <a:spcPts val="600"/>
              </a:spcAft>
            </a:pPr>
            <a:r>
              <a:rPr lang="en-US" sz="1400" dirty="0"/>
              <a:t>After DIGIFT settles the exchange deal, DIGIFT to pass deal information to HSBC platform.</a:t>
            </a:r>
          </a:p>
          <a:p>
            <a:pPr marL="857250" lvl="2" indent="-171450">
              <a:lnSpc>
                <a:spcPct val="100000"/>
              </a:lnSpc>
              <a:spcBef>
                <a:spcPts val="0"/>
              </a:spcBef>
              <a:spcAft>
                <a:spcPts val="600"/>
              </a:spcAft>
            </a:pPr>
            <a:r>
              <a:rPr lang="en-US" sz="1400" dirty="0"/>
              <a:t>The seller to provide confirmation. </a:t>
            </a:r>
          </a:p>
          <a:p>
            <a:pPr marL="857250" lvl="2" indent="-171450">
              <a:lnSpc>
                <a:spcPct val="100000"/>
              </a:lnSpc>
              <a:spcBef>
                <a:spcPts val="0"/>
              </a:spcBef>
              <a:spcAft>
                <a:spcPts val="600"/>
              </a:spcAft>
            </a:pPr>
            <a:r>
              <a:rPr lang="en-US" sz="1400" dirty="0"/>
              <a:t>HSBC to match DIGIFT settlement instruction and seller’s confirmation, then proceed the settlement process</a:t>
            </a:r>
          </a:p>
          <a:p>
            <a:pPr lvl="2">
              <a:lnSpc>
                <a:spcPct val="100000"/>
              </a:lnSpc>
              <a:spcBef>
                <a:spcPts val="0"/>
              </a:spcBef>
              <a:spcAft>
                <a:spcPts val="600"/>
              </a:spcAft>
            </a:pPr>
            <a:endParaRPr lang="en-US" sz="1400" dirty="0"/>
          </a:p>
          <a:p>
            <a:pPr marL="400050" lvl="1" indent="-171450">
              <a:lnSpc>
                <a:spcPct val="100000"/>
              </a:lnSpc>
              <a:spcBef>
                <a:spcPts val="0"/>
              </a:spcBef>
              <a:spcAft>
                <a:spcPts val="600"/>
              </a:spcAft>
            </a:pPr>
            <a:endParaRPr lang="en-US" sz="1400" dirty="0"/>
          </a:p>
        </p:txBody>
      </p:sp>
      <p:pic>
        <p:nvPicPr>
          <p:cNvPr id="10" name="Picture 9">
            <a:extLst>
              <a:ext uri="{FF2B5EF4-FFF2-40B4-BE49-F238E27FC236}">
                <a16:creationId xmlns:a16="http://schemas.microsoft.com/office/drawing/2014/main" id="{3C63C51B-D7DC-4B16-B0B4-475D409FB22F}"/>
              </a:ext>
            </a:extLst>
          </p:cNvPr>
          <p:cNvPicPr>
            <a:picLocks noChangeAspect="1"/>
          </p:cNvPicPr>
          <p:nvPr/>
        </p:nvPicPr>
        <p:blipFill>
          <a:blip r:embed="rId2"/>
          <a:stretch>
            <a:fillRect/>
          </a:stretch>
        </p:blipFill>
        <p:spPr>
          <a:xfrm>
            <a:off x="4504733" y="1435608"/>
            <a:ext cx="7384420" cy="2857748"/>
          </a:xfrm>
          <a:prstGeom prst="rect">
            <a:avLst/>
          </a:prstGeom>
        </p:spPr>
      </p:pic>
      <p:sp>
        <p:nvSpPr>
          <p:cNvPr id="11" name="Content Placeholder 2">
            <a:extLst>
              <a:ext uri="{FF2B5EF4-FFF2-40B4-BE49-F238E27FC236}">
                <a16:creationId xmlns:a16="http://schemas.microsoft.com/office/drawing/2014/main" id="{76937D7A-24DB-4D47-894C-7F2AC8EBECAD}"/>
              </a:ext>
            </a:extLst>
          </p:cNvPr>
          <p:cNvSpPr txBox="1">
            <a:spLocks/>
          </p:cNvSpPr>
          <p:nvPr/>
        </p:nvSpPr>
        <p:spPr>
          <a:xfrm>
            <a:off x="4504733" y="4236518"/>
            <a:ext cx="7040882" cy="2417904"/>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lvl="1" indent="0">
              <a:lnSpc>
                <a:spcPct val="100000"/>
              </a:lnSpc>
              <a:spcBef>
                <a:spcPts val="0"/>
              </a:spcBef>
              <a:spcAft>
                <a:spcPts val="600"/>
              </a:spcAft>
              <a:buNone/>
            </a:pPr>
            <a:r>
              <a:rPr lang="en-US" sz="1400" dirty="0"/>
              <a:t>Notes:</a:t>
            </a:r>
          </a:p>
          <a:p>
            <a:pPr lvl="1" indent="-109538">
              <a:lnSpc>
                <a:spcPct val="100000"/>
              </a:lnSpc>
              <a:spcBef>
                <a:spcPts val="0"/>
              </a:spcBef>
              <a:spcAft>
                <a:spcPts val="600"/>
              </a:spcAft>
            </a:pPr>
            <a:r>
              <a:rPr lang="en-US" sz="1400" dirty="0"/>
              <a:t>Need to check whether HSBC existing system and operational process can support such flow?</a:t>
            </a:r>
          </a:p>
          <a:p>
            <a:pPr lvl="1" indent="-109538">
              <a:lnSpc>
                <a:spcPct val="100000"/>
              </a:lnSpc>
              <a:spcBef>
                <a:spcPts val="0"/>
              </a:spcBef>
              <a:spcAft>
                <a:spcPts val="600"/>
              </a:spcAft>
            </a:pPr>
            <a:r>
              <a:rPr lang="en-US" sz="1400" dirty="0"/>
              <a:t>If not, what is the alternative / workaround proposed by HSBC?</a:t>
            </a:r>
          </a:p>
          <a:p>
            <a:pPr lvl="1" indent="-109538">
              <a:lnSpc>
                <a:spcPct val="100000"/>
              </a:lnSpc>
              <a:spcBef>
                <a:spcPts val="0"/>
              </a:spcBef>
              <a:spcAft>
                <a:spcPts val="600"/>
              </a:spcAft>
            </a:pPr>
            <a:r>
              <a:rPr lang="en-US" sz="1400" dirty="0"/>
              <a:t>Besides the cash settlement, how about the assets settlement if DIGIFT also needs to use “Escrow account” solution to handle individual investor’s asset? Can we use the “TRUST” concept to store all Asset with HSBC Trust, then issue Asset Token. During day2day transaction stage, DIGIFT records all Asset Token information in Ethereum block chain, no need to update HSBC in investor level. DIGIFT and HSBC needs to ensure total asset level matching, i.e. every asset token has its underlying financial asset with HSBC</a:t>
            </a:r>
          </a:p>
          <a:p>
            <a:pPr lvl="1" indent="-109538">
              <a:lnSpc>
                <a:spcPct val="100000"/>
              </a:lnSpc>
              <a:spcBef>
                <a:spcPts val="0"/>
              </a:spcBef>
              <a:spcAft>
                <a:spcPts val="600"/>
              </a:spcAft>
            </a:pPr>
            <a:r>
              <a:rPr lang="en-US" sz="1400" dirty="0"/>
              <a:t>Settlement Risk: If investor A delayed or even not provide confirmation through HSBC platform. Shall DIGIFT reverse the transaction?  Or DIGIFT clearing rulebook, customer agreement can authorize DIGIFT/HSBC to do the force settlement? </a:t>
            </a:r>
          </a:p>
        </p:txBody>
      </p:sp>
    </p:spTree>
    <p:extLst>
      <p:ext uri="{BB962C8B-B14F-4D97-AF65-F5344CB8AC3E}">
        <p14:creationId xmlns:p14="http://schemas.microsoft.com/office/powerpoint/2010/main" val="2784908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F768E-4A89-4369-9205-8ED440B21F72}"/>
              </a:ext>
            </a:extLst>
          </p:cNvPr>
          <p:cNvSpPr>
            <a:spLocks noGrp="1"/>
          </p:cNvSpPr>
          <p:nvPr>
            <p:ph type="title"/>
          </p:nvPr>
        </p:nvSpPr>
        <p:spPr/>
        <p:txBody>
          <a:bodyPr/>
          <a:lstStyle/>
          <a:p>
            <a:r>
              <a:rPr lang="en-US" dirty="0"/>
              <a:t>Cash Withdraw</a:t>
            </a:r>
          </a:p>
        </p:txBody>
      </p:sp>
      <p:pic>
        <p:nvPicPr>
          <p:cNvPr id="5" name="Picture 4">
            <a:extLst>
              <a:ext uri="{FF2B5EF4-FFF2-40B4-BE49-F238E27FC236}">
                <a16:creationId xmlns:a16="http://schemas.microsoft.com/office/drawing/2014/main" id="{A8B61BB2-AFBB-4B5D-BAF1-3AD44219D022}"/>
              </a:ext>
            </a:extLst>
          </p:cNvPr>
          <p:cNvPicPr>
            <a:picLocks noChangeAspect="1"/>
          </p:cNvPicPr>
          <p:nvPr/>
        </p:nvPicPr>
        <p:blipFill>
          <a:blip r:embed="rId2"/>
          <a:stretch>
            <a:fillRect/>
          </a:stretch>
        </p:blipFill>
        <p:spPr>
          <a:xfrm>
            <a:off x="4655197" y="1444752"/>
            <a:ext cx="6997307" cy="3246794"/>
          </a:xfrm>
          <a:prstGeom prst="rect">
            <a:avLst/>
          </a:prstGeom>
        </p:spPr>
      </p:pic>
      <p:sp>
        <p:nvSpPr>
          <p:cNvPr id="6" name="Content Placeholder 2">
            <a:extLst>
              <a:ext uri="{FF2B5EF4-FFF2-40B4-BE49-F238E27FC236}">
                <a16:creationId xmlns:a16="http://schemas.microsoft.com/office/drawing/2014/main" id="{5F698318-0D78-498A-B477-AE94E1A83076}"/>
              </a:ext>
            </a:extLst>
          </p:cNvPr>
          <p:cNvSpPr txBox="1">
            <a:spLocks noGrp="1"/>
          </p:cNvSpPr>
          <p:nvPr>
            <p:ph sz="quarter" idx="10"/>
          </p:nvPr>
        </p:nvSpPr>
        <p:spPr>
          <a:xfrm>
            <a:off x="539751" y="1444752"/>
            <a:ext cx="3913916" cy="4697864"/>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marL="171450" indent="-171450">
              <a:lnSpc>
                <a:spcPct val="100000"/>
              </a:lnSpc>
              <a:spcBef>
                <a:spcPts val="0"/>
              </a:spcBef>
              <a:spcAft>
                <a:spcPts val="600"/>
              </a:spcAft>
              <a:buFont typeface="Arial" panose="020B0604020202020204" pitchFamily="34" charset="0"/>
              <a:buChar char="•"/>
            </a:pPr>
            <a:r>
              <a:rPr lang="en-US" sz="1400" dirty="0"/>
              <a:t>Business Case </a:t>
            </a:r>
          </a:p>
          <a:p>
            <a:pPr marL="400050" lvl="1" indent="-280988">
              <a:lnSpc>
                <a:spcPct val="100000"/>
              </a:lnSpc>
              <a:spcBef>
                <a:spcPts val="0"/>
              </a:spcBef>
              <a:spcAft>
                <a:spcPts val="600"/>
              </a:spcAft>
            </a:pPr>
            <a:r>
              <a:rPr lang="en-US" sz="1400" dirty="0"/>
              <a:t>Investor wants to withdraw cash from digital wallet to its normal bank account with HSBC or other banks</a:t>
            </a:r>
          </a:p>
          <a:p>
            <a:pPr marL="176212" indent="-285750">
              <a:lnSpc>
                <a:spcPct val="100000"/>
              </a:lnSpc>
              <a:spcBef>
                <a:spcPts val="0"/>
              </a:spcBef>
              <a:spcAft>
                <a:spcPts val="600"/>
              </a:spcAft>
              <a:buFont typeface="Arial" panose="020B0604020202020204" pitchFamily="34" charset="0"/>
              <a:buChar char="•"/>
            </a:pPr>
            <a:r>
              <a:rPr lang="en-US" sz="1400" dirty="0"/>
              <a:t>Process</a:t>
            </a:r>
          </a:p>
          <a:p>
            <a:pPr marL="404812" lvl="1" indent="-285750">
              <a:lnSpc>
                <a:spcPct val="100000"/>
              </a:lnSpc>
              <a:spcBef>
                <a:spcPts val="0"/>
              </a:spcBef>
              <a:spcAft>
                <a:spcPts val="600"/>
              </a:spcAft>
            </a:pPr>
            <a:r>
              <a:rPr lang="en-US" sz="1400" dirty="0"/>
              <a:t>Investor sends cash withdraw request to DIGIFT.</a:t>
            </a:r>
          </a:p>
          <a:p>
            <a:pPr marL="404812" lvl="1" indent="-285750">
              <a:lnSpc>
                <a:spcPct val="100000"/>
              </a:lnSpc>
              <a:spcBef>
                <a:spcPts val="0"/>
              </a:spcBef>
              <a:spcAft>
                <a:spcPts val="600"/>
              </a:spcAft>
            </a:pPr>
            <a:r>
              <a:rPr lang="en-US" sz="1400" dirty="0"/>
              <a:t>DIGFT DR Fiat Token from investor’s Digital Wallet, deactivate, send information to HSBC</a:t>
            </a:r>
          </a:p>
          <a:p>
            <a:pPr marL="404812" lvl="1" indent="-285750">
              <a:lnSpc>
                <a:spcPct val="100000"/>
              </a:lnSpc>
              <a:spcBef>
                <a:spcPts val="0"/>
              </a:spcBef>
              <a:spcAft>
                <a:spcPts val="600"/>
              </a:spcAft>
            </a:pPr>
            <a:r>
              <a:rPr lang="en-US" sz="1400" dirty="0"/>
              <a:t>HSBC pass the information to its platform (online auto or offline manual channel). Investor needs to confirm the transition.</a:t>
            </a:r>
          </a:p>
          <a:p>
            <a:pPr marL="404812" lvl="1" indent="-285750">
              <a:lnSpc>
                <a:spcPct val="100000"/>
              </a:lnSpc>
              <a:spcBef>
                <a:spcPts val="0"/>
              </a:spcBef>
              <a:spcAft>
                <a:spcPts val="600"/>
              </a:spcAft>
            </a:pPr>
            <a:r>
              <a:rPr lang="en-US" sz="1400" dirty="0"/>
              <a:t>HSBC DR investor Fiat currency amount from Escrow account, remits to Investor’s normal account within HSBC or in other bank</a:t>
            </a:r>
          </a:p>
          <a:p>
            <a:pPr marL="404812" lvl="1" indent="-285750">
              <a:lnSpc>
                <a:spcPct val="100000"/>
              </a:lnSpc>
              <a:spcBef>
                <a:spcPts val="0"/>
              </a:spcBef>
              <a:spcAft>
                <a:spcPts val="600"/>
              </a:spcAft>
            </a:pPr>
            <a:endParaRPr lang="en-US" sz="1400" dirty="0"/>
          </a:p>
          <a:p>
            <a:pPr lvl="2">
              <a:lnSpc>
                <a:spcPct val="100000"/>
              </a:lnSpc>
              <a:spcBef>
                <a:spcPts val="0"/>
              </a:spcBef>
              <a:spcAft>
                <a:spcPts val="600"/>
              </a:spcAft>
            </a:pPr>
            <a:endParaRPr lang="en-US" sz="1400" dirty="0"/>
          </a:p>
          <a:p>
            <a:pPr marL="400050" lvl="1" indent="-171450">
              <a:lnSpc>
                <a:spcPct val="100000"/>
              </a:lnSpc>
              <a:spcBef>
                <a:spcPts val="0"/>
              </a:spcBef>
              <a:spcAft>
                <a:spcPts val="600"/>
              </a:spcAft>
            </a:pPr>
            <a:endParaRPr lang="en-US" sz="1400" dirty="0"/>
          </a:p>
        </p:txBody>
      </p:sp>
      <p:sp>
        <p:nvSpPr>
          <p:cNvPr id="7" name="Content Placeholder 2">
            <a:extLst>
              <a:ext uri="{FF2B5EF4-FFF2-40B4-BE49-F238E27FC236}">
                <a16:creationId xmlns:a16="http://schemas.microsoft.com/office/drawing/2014/main" id="{83F4726F-A9BF-4BDE-BEBA-3D441AEE8F30}"/>
              </a:ext>
            </a:extLst>
          </p:cNvPr>
          <p:cNvSpPr txBox="1">
            <a:spLocks/>
          </p:cNvSpPr>
          <p:nvPr/>
        </p:nvSpPr>
        <p:spPr>
          <a:xfrm>
            <a:off x="4787153" y="4744122"/>
            <a:ext cx="6758462" cy="1910300"/>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lvl="1" indent="0">
              <a:lnSpc>
                <a:spcPct val="100000"/>
              </a:lnSpc>
              <a:spcBef>
                <a:spcPts val="0"/>
              </a:spcBef>
              <a:spcAft>
                <a:spcPts val="600"/>
              </a:spcAft>
              <a:buNone/>
            </a:pPr>
            <a:r>
              <a:rPr lang="en-US" sz="1400" dirty="0"/>
              <a:t>Notes:</a:t>
            </a:r>
          </a:p>
          <a:p>
            <a:pPr lvl="1" indent="-109538">
              <a:lnSpc>
                <a:spcPct val="100000"/>
              </a:lnSpc>
              <a:spcBef>
                <a:spcPts val="0"/>
              </a:spcBef>
              <a:spcAft>
                <a:spcPts val="600"/>
              </a:spcAft>
            </a:pPr>
            <a:r>
              <a:rPr lang="en-US" sz="1400" dirty="0"/>
              <a:t>This process is based on the assumption that Escrow account outbound transaction must get approval from both DIGIFT and the account owner – the investor</a:t>
            </a:r>
          </a:p>
          <a:p>
            <a:pPr lvl="1" indent="-109538">
              <a:lnSpc>
                <a:spcPct val="100000"/>
              </a:lnSpc>
              <a:spcBef>
                <a:spcPts val="0"/>
              </a:spcBef>
              <a:spcAft>
                <a:spcPts val="600"/>
              </a:spcAft>
            </a:pPr>
            <a:r>
              <a:rPr lang="en-US" sz="1400" dirty="0"/>
              <a:t>After transaction the number of Fiat currency balance in the investor’s Escrow account should be equal to Fiat Token in investor’s digital wallet</a:t>
            </a:r>
          </a:p>
          <a:p>
            <a:pPr lvl="1" indent="-109538">
              <a:lnSpc>
                <a:spcPct val="100000"/>
              </a:lnSpc>
              <a:spcBef>
                <a:spcPts val="0"/>
              </a:spcBef>
              <a:spcAft>
                <a:spcPts val="600"/>
              </a:spcAft>
            </a:pPr>
            <a:r>
              <a:rPr lang="en-US" sz="1400" dirty="0"/>
              <a:t>Require HSBC to provide a platform for Investor to confirm the transaction could require HSBC special operation process and/or system development. All of that could bring high risk for HSBC to support this project. </a:t>
            </a:r>
          </a:p>
          <a:p>
            <a:pPr lvl="1" indent="-109538">
              <a:lnSpc>
                <a:spcPct val="100000"/>
              </a:lnSpc>
              <a:spcBef>
                <a:spcPts val="0"/>
              </a:spcBef>
              <a:spcAft>
                <a:spcPts val="600"/>
              </a:spcAft>
            </a:pPr>
            <a:r>
              <a:rPr lang="en-US" sz="1400" dirty="0"/>
              <a:t>There is risk that the investor’s delay to provide the confirmation to HSBC, impact the whole withdraw process</a:t>
            </a:r>
          </a:p>
        </p:txBody>
      </p:sp>
    </p:spTree>
    <p:extLst>
      <p:ext uri="{BB962C8B-B14F-4D97-AF65-F5344CB8AC3E}">
        <p14:creationId xmlns:p14="http://schemas.microsoft.com/office/powerpoint/2010/main" val="3167799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210EA-EE9C-427E-A269-CA2F6BADA94C}"/>
              </a:ext>
            </a:extLst>
          </p:cNvPr>
          <p:cNvSpPr>
            <a:spLocks noGrp="1"/>
          </p:cNvSpPr>
          <p:nvPr>
            <p:ph type="title"/>
          </p:nvPr>
        </p:nvSpPr>
        <p:spPr/>
        <p:txBody>
          <a:bodyPr/>
          <a:lstStyle/>
          <a:p>
            <a:r>
              <a:rPr lang="en-US" dirty="0"/>
              <a:t>Coupon / Interest Payment – Option 1</a:t>
            </a:r>
          </a:p>
        </p:txBody>
      </p:sp>
      <p:sp>
        <p:nvSpPr>
          <p:cNvPr id="4" name="Content Placeholder 2">
            <a:extLst>
              <a:ext uri="{FF2B5EF4-FFF2-40B4-BE49-F238E27FC236}">
                <a16:creationId xmlns:a16="http://schemas.microsoft.com/office/drawing/2014/main" id="{EE48F3B5-0260-4D90-97E3-E52DB1D90529}"/>
              </a:ext>
            </a:extLst>
          </p:cNvPr>
          <p:cNvSpPr txBox="1">
            <a:spLocks noGrp="1"/>
          </p:cNvSpPr>
          <p:nvPr>
            <p:ph sz="quarter" idx="10"/>
          </p:nvPr>
        </p:nvSpPr>
        <p:spPr>
          <a:xfrm>
            <a:off x="539751" y="1444752"/>
            <a:ext cx="3913916" cy="4697864"/>
          </a:xfrm>
          <a:prstGeom prst="rect">
            <a:avLst/>
          </a:prstGeom>
        </p:spPr>
        <p:txBody>
          <a:bodyPr vert="horz" lIns="91440" tIns="45720" rIns="91440" bIns="45720" rtlCol="0">
            <a:normAutofit lnSpcReduction="10000"/>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marL="171450" indent="-171450">
              <a:lnSpc>
                <a:spcPct val="100000"/>
              </a:lnSpc>
              <a:spcBef>
                <a:spcPts val="0"/>
              </a:spcBef>
              <a:spcAft>
                <a:spcPts val="600"/>
              </a:spcAft>
              <a:buFont typeface="Arial" panose="020B0604020202020204" pitchFamily="34" charset="0"/>
              <a:buChar char="•"/>
            </a:pPr>
            <a:r>
              <a:rPr lang="en-US" sz="1400" dirty="0"/>
              <a:t>Business Case </a:t>
            </a:r>
          </a:p>
          <a:p>
            <a:pPr marL="400050" lvl="1" indent="-280988">
              <a:lnSpc>
                <a:spcPct val="100000"/>
              </a:lnSpc>
              <a:spcBef>
                <a:spcPts val="0"/>
              </a:spcBef>
              <a:spcAft>
                <a:spcPts val="600"/>
              </a:spcAft>
            </a:pPr>
            <a:r>
              <a:rPr lang="en-US" sz="1400" dirty="0"/>
              <a:t>Issuer to pay bond coupon (interest) to bond holders (investors)</a:t>
            </a:r>
          </a:p>
          <a:p>
            <a:pPr marL="400050" lvl="1" indent="-280988">
              <a:lnSpc>
                <a:spcPct val="100000"/>
              </a:lnSpc>
              <a:spcBef>
                <a:spcPts val="0"/>
              </a:spcBef>
              <a:spcAft>
                <a:spcPts val="600"/>
              </a:spcAft>
            </a:pPr>
            <a:r>
              <a:rPr lang="en-US" sz="1400" dirty="0"/>
              <a:t>It goes through pure cash process, doesn’t engage digital wallet and fiat token. </a:t>
            </a:r>
          </a:p>
          <a:p>
            <a:pPr marL="176212" indent="-285750">
              <a:lnSpc>
                <a:spcPct val="100000"/>
              </a:lnSpc>
              <a:spcBef>
                <a:spcPts val="0"/>
              </a:spcBef>
              <a:spcAft>
                <a:spcPts val="600"/>
              </a:spcAft>
              <a:buFont typeface="Arial" panose="020B0604020202020204" pitchFamily="34" charset="0"/>
              <a:buChar char="•"/>
            </a:pPr>
            <a:r>
              <a:rPr lang="en-US" sz="1400" dirty="0"/>
              <a:t>Process</a:t>
            </a:r>
          </a:p>
          <a:p>
            <a:pPr marL="404812" lvl="1" indent="-285750">
              <a:lnSpc>
                <a:spcPct val="100000"/>
              </a:lnSpc>
              <a:spcBef>
                <a:spcPts val="0"/>
              </a:spcBef>
              <a:spcAft>
                <a:spcPts val="600"/>
              </a:spcAft>
            </a:pPr>
            <a:r>
              <a:rPr lang="en-US" sz="1400" dirty="0"/>
              <a:t>Issuer remits total coupon amount to Issuer’s HSBC Escrow AC. Issuer also provides instruction to HSBC to make coupon payment (Lump sum level, Debit Authority)</a:t>
            </a:r>
          </a:p>
          <a:p>
            <a:pPr marL="404812" lvl="1" indent="-285750">
              <a:lnSpc>
                <a:spcPct val="100000"/>
              </a:lnSpc>
              <a:spcBef>
                <a:spcPts val="0"/>
              </a:spcBef>
              <a:spcAft>
                <a:spcPts val="600"/>
              </a:spcAft>
            </a:pPr>
            <a:r>
              <a:rPr lang="en-US" sz="1400" dirty="0"/>
              <a:t>DIGIFT provides individual level coupon payment information to HSBC, based on asset holder information (who holds how much)</a:t>
            </a:r>
          </a:p>
          <a:p>
            <a:pPr marL="404812" lvl="1" indent="-285750">
              <a:lnSpc>
                <a:spcPct val="100000"/>
              </a:lnSpc>
              <a:spcBef>
                <a:spcPts val="0"/>
              </a:spcBef>
              <a:spcAft>
                <a:spcPts val="600"/>
              </a:spcAft>
            </a:pPr>
            <a:r>
              <a:rPr lang="en-US" sz="1400" dirty="0"/>
              <a:t>HSBC to debit lump sum total amount from Issuer’s Escrow account, remits to investor’s normal AC with HSBC or 3</a:t>
            </a:r>
            <a:r>
              <a:rPr lang="en-US" sz="1400" baseline="30000" dirty="0"/>
              <a:t>rd</a:t>
            </a:r>
            <a:r>
              <a:rPr lang="en-US" sz="1400" dirty="0"/>
              <a:t> party bank</a:t>
            </a:r>
          </a:p>
          <a:p>
            <a:pPr marL="404812" lvl="1" indent="-285750">
              <a:lnSpc>
                <a:spcPct val="100000"/>
              </a:lnSpc>
              <a:spcBef>
                <a:spcPts val="0"/>
              </a:spcBef>
              <a:spcAft>
                <a:spcPts val="600"/>
              </a:spcAft>
            </a:pPr>
            <a:endParaRPr lang="en-US" sz="1400" dirty="0"/>
          </a:p>
          <a:p>
            <a:pPr lvl="2">
              <a:lnSpc>
                <a:spcPct val="100000"/>
              </a:lnSpc>
              <a:spcBef>
                <a:spcPts val="0"/>
              </a:spcBef>
              <a:spcAft>
                <a:spcPts val="600"/>
              </a:spcAft>
            </a:pPr>
            <a:endParaRPr lang="en-US" sz="1400" dirty="0"/>
          </a:p>
          <a:p>
            <a:pPr marL="400050" lvl="1" indent="-171450">
              <a:lnSpc>
                <a:spcPct val="100000"/>
              </a:lnSpc>
              <a:spcBef>
                <a:spcPts val="0"/>
              </a:spcBef>
              <a:spcAft>
                <a:spcPts val="600"/>
              </a:spcAft>
            </a:pPr>
            <a:endParaRPr lang="en-US" sz="1400" dirty="0"/>
          </a:p>
        </p:txBody>
      </p:sp>
      <p:sp>
        <p:nvSpPr>
          <p:cNvPr id="7" name="Content Placeholder 2">
            <a:extLst>
              <a:ext uri="{FF2B5EF4-FFF2-40B4-BE49-F238E27FC236}">
                <a16:creationId xmlns:a16="http://schemas.microsoft.com/office/drawing/2014/main" id="{3E52721C-C165-4FE3-AF54-CDCC5110F871}"/>
              </a:ext>
            </a:extLst>
          </p:cNvPr>
          <p:cNvSpPr txBox="1">
            <a:spLocks/>
          </p:cNvSpPr>
          <p:nvPr/>
        </p:nvSpPr>
        <p:spPr>
          <a:xfrm>
            <a:off x="4768757" y="4147073"/>
            <a:ext cx="6758462" cy="1910300"/>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lvl="1" indent="0">
              <a:lnSpc>
                <a:spcPct val="100000"/>
              </a:lnSpc>
              <a:spcBef>
                <a:spcPts val="0"/>
              </a:spcBef>
              <a:spcAft>
                <a:spcPts val="600"/>
              </a:spcAft>
              <a:buNone/>
            </a:pPr>
            <a:r>
              <a:rPr lang="en-US" sz="1400" dirty="0"/>
              <a:t>Notes:</a:t>
            </a:r>
          </a:p>
          <a:p>
            <a:pPr lvl="1" indent="-109538">
              <a:lnSpc>
                <a:spcPct val="100000"/>
              </a:lnSpc>
              <a:spcBef>
                <a:spcPts val="0"/>
              </a:spcBef>
              <a:spcAft>
                <a:spcPts val="600"/>
              </a:spcAft>
            </a:pPr>
            <a:r>
              <a:rPr lang="en-US" sz="1400" dirty="0"/>
              <a:t>This process doesn’t engage Fiat Token process. </a:t>
            </a:r>
          </a:p>
          <a:p>
            <a:pPr lvl="1" indent="-109538">
              <a:lnSpc>
                <a:spcPct val="100000"/>
              </a:lnSpc>
              <a:spcBef>
                <a:spcPts val="0"/>
              </a:spcBef>
              <a:spcAft>
                <a:spcPts val="600"/>
              </a:spcAft>
            </a:pPr>
            <a:r>
              <a:rPr lang="en-US" sz="1400" dirty="0"/>
              <a:t>It is directly settled through traditional cash process. </a:t>
            </a:r>
          </a:p>
          <a:p>
            <a:pPr lvl="1" indent="-109538">
              <a:lnSpc>
                <a:spcPct val="100000"/>
              </a:lnSpc>
              <a:spcBef>
                <a:spcPts val="0"/>
              </a:spcBef>
              <a:spcAft>
                <a:spcPts val="600"/>
              </a:spcAft>
            </a:pPr>
            <a:r>
              <a:rPr lang="en-US" sz="1400" dirty="0"/>
              <a:t>Investor can directly receive coupon cash from its normal AC with HSBC or 3</a:t>
            </a:r>
            <a:r>
              <a:rPr lang="en-US" sz="1400" baseline="30000" dirty="0"/>
              <a:t>rd</a:t>
            </a:r>
            <a:r>
              <a:rPr lang="en-US" sz="1400" dirty="0"/>
              <a:t> party bank.</a:t>
            </a:r>
          </a:p>
        </p:txBody>
      </p:sp>
      <p:pic>
        <p:nvPicPr>
          <p:cNvPr id="9" name="Picture 8">
            <a:extLst>
              <a:ext uri="{FF2B5EF4-FFF2-40B4-BE49-F238E27FC236}">
                <a16:creationId xmlns:a16="http://schemas.microsoft.com/office/drawing/2014/main" id="{9363B394-C99F-4E40-BF1A-317C99A66D95}"/>
              </a:ext>
            </a:extLst>
          </p:cNvPr>
          <p:cNvPicPr>
            <a:picLocks noChangeAspect="1"/>
          </p:cNvPicPr>
          <p:nvPr/>
        </p:nvPicPr>
        <p:blipFill>
          <a:blip r:embed="rId2"/>
          <a:stretch>
            <a:fillRect/>
          </a:stretch>
        </p:blipFill>
        <p:spPr>
          <a:xfrm>
            <a:off x="4825031" y="1690526"/>
            <a:ext cx="6827218" cy="2294335"/>
          </a:xfrm>
          <a:prstGeom prst="rect">
            <a:avLst/>
          </a:prstGeom>
        </p:spPr>
      </p:pic>
    </p:spTree>
    <p:extLst>
      <p:ext uri="{BB962C8B-B14F-4D97-AF65-F5344CB8AC3E}">
        <p14:creationId xmlns:p14="http://schemas.microsoft.com/office/powerpoint/2010/main" val="798214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AD506-636B-4CDD-BCAF-12DDE53DCA75}"/>
              </a:ext>
            </a:extLst>
          </p:cNvPr>
          <p:cNvSpPr>
            <a:spLocks noGrp="1"/>
          </p:cNvSpPr>
          <p:nvPr>
            <p:ph type="title"/>
          </p:nvPr>
        </p:nvSpPr>
        <p:spPr/>
        <p:txBody>
          <a:bodyPr/>
          <a:lstStyle/>
          <a:p>
            <a:r>
              <a:rPr lang="en-US" dirty="0"/>
              <a:t>Coupon / Interest Payment – Option 1</a:t>
            </a:r>
          </a:p>
        </p:txBody>
      </p:sp>
      <p:sp>
        <p:nvSpPr>
          <p:cNvPr id="4" name="Content Placeholder 2">
            <a:extLst>
              <a:ext uri="{FF2B5EF4-FFF2-40B4-BE49-F238E27FC236}">
                <a16:creationId xmlns:a16="http://schemas.microsoft.com/office/drawing/2014/main" id="{6DB91721-DF29-474B-8D3A-6CA92921EDA9}"/>
              </a:ext>
            </a:extLst>
          </p:cNvPr>
          <p:cNvSpPr txBox="1">
            <a:spLocks noGrp="1"/>
          </p:cNvSpPr>
          <p:nvPr>
            <p:ph sz="quarter" idx="10"/>
          </p:nvPr>
        </p:nvSpPr>
        <p:spPr>
          <a:xfrm>
            <a:off x="399901" y="1369448"/>
            <a:ext cx="3392169" cy="4697864"/>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marL="171450" indent="-171450">
              <a:lnSpc>
                <a:spcPct val="100000"/>
              </a:lnSpc>
              <a:spcBef>
                <a:spcPts val="0"/>
              </a:spcBef>
              <a:spcAft>
                <a:spcPts val="600"/>
              </a:spcAft>
              <a:buFont typeface="Arial" panose="020B0604020202020204" pitchFamily="34" charset="0"/>
              <a:buChar char="•"/>
            </a:pPr>
            <a:r>
              <a:rPr lang="en-US" sz="1400" dirty="0"/>
              <a:t>Business Case </a:t>
            </a:r>
          </a:p>
          <a:p>
            <a:pPr marL="400050" lvl="1" indent="-280988">
              <a:lnSpc>
                <a:spcPct val="100000"/>
              </a:lnSpc>
              <a:spcBef>
                <a:spcPts val="0"/>
              </a:spcBef>
              <a:spcAft>
                <a:spcPts val="600"/>
              </a:spcAft>
            </a:pPr>
            <a:r>
              <a:rPr lang="en-US" sz="1400" dirty="0"/>
              <a:t>Issuer to pay bond coupon (interest) to bond holders (investors)</a:t>
            </a:r>
          </a:p>
          <a:p>
            <a:pPr marL="400050" lvl="1" indent="-280988">
              <a:lnSpc>
                <a:spcPct val="100000"/>
              </a:lnSpc>
              <a:spcBef>
                <a:spcPts val="0"/>
              </a:spcBef>
              <a:spcAft>
                <a:spcPts val="600"/>
              </a:spcAft>
            </a:pPr>
            <a:r>
              <a:rPr lang="en-US" sz="1400" dirty="0"/>
              <a:t>Fiat Cash is credited to individual investor’s Escrow AC, and Fiat Token is credited to investor’s Digital Wallet	</a:t>
            </a:r>
          </a:p>
          <a:p>
            <a:pPr marL="176212" indent="-285750">
              <a:lnSpc>
                <a:spcPct val="100000"/>
              </a:lnSpc>
              <a:spcBef>
                <a:spcPts val="0"/>
              </a:spcBef>
              <a:spcAft>
                <a:spcPts val="600"/>
              </a:spcAft>
              <a:buFont typeface="Arial" panose="020B0604020202020204" pitchFamily="34" charset="0"/>
              <a:buChar char="•"/>
            </a:pPr>
            <a:r>
              <a:rPr lang="en-US" sz="1400" dirty="0"/>
              <a:t>Process</a:t>
            </a:r>
          </a:p>
          <a:p>
            <a:pPr marL="404812" lvl="1" indent="-285750">
              <a:lnSpc>
                <a:spcPct val="100000"/>
              </a:lnSpc>
              <a:spcBef>
                <a:spcPts val="0"/>
              </a:spcBef>
              <a:spcAft>
                <a:spcPts val="600"/>
              </a:spcAft>
            </a:pPr>
            <a:r>
              <a:rPr lang="en-US" sz="1400" dirty="0"/>
              <a:t>Issuer to remit total coupon amount to Issuer’s HSBC Escrow AC. Issuer also to provide instruction to HSBC to make coupon payment (Debit Authority)</a:t>
            </a:r>
          </a:p>
          <a:p>
            <a:pPr marL="404812" lvl="1" indent="-285750">
              <a:lnSpc>
                <a:spcPct val="100000"/>
              </a:lnSpc>
              <a:spcBef>
                <a:spcPts val="0"/>
              </a:spcBef>
              <a:spcAft>
                <a:spcPts val="600"/>
              </a:spcAft>
            </a:pPr>
            <a:r>
              <a:rPr lang="en-US" sz="1400" dirty="0"/>
              <a:t>HSBC to provide coupon inbound information to DIGIFT. DIGIFT tokenize to Fiat Token, credit to individual investor’s Digital Wallet.</a:t>
            </a:r>
          </a:p>
          <a:p>
            <a:pPr marL="404812" lvl="1" indent="-285750">
              <a:lnSpc>
                <a:spcPct val="100000"/>
              </a:lnSpc>
              <a:spcBef>
                <a:spcPts val="0"/>
              </a:spcBef>
              <a:spcAft>
                <a:spcPts val="600"/>
              </a:spcAft>
            </a:pPr>
            <a:r>
              <a:rPr lang="en-US" sz="1400" dirty="0"/>
              <a:t>DIGIFT to HSBC individual investor’s Fiat Token credit information.</a:t>
            </a:r>
          </a:p>
          <a:p>
            <a:pPr marL="404812" lvl="1" indent="-285750">
              <a:lnSpc>
                <a:spcPct val="100000"/>
              </a:lnSpc>
              <a:spcBef>
                <a:spcPts val="0"/>
              </a:spcBef>
              <a:spcAft>
                <a:spcPts val="600"/>
              </a:spcAft>
            </a:pPr>
            <a:r>
              <a:rPr lang="en-US" sz="1400" dirty="0"/>
              <a:t>HSBC to DR Issuer’s Escrow account, CR individual investor’s Escrow account according to DIGIFT’s information</a:t>
            </a:r>
          </a:p>
          <a:p>
            <a:pPr marL="404812" lvl="1" indent="-285750">
              <a:lnSpc>
                <a:spcPct val="100000"/>
              </a:lnSpc>
              <a:spcBef>
                <a:spcPts val="0"/>
              </a:spcBef>
              <a:spcAft>
                <a:spcPts val="600"/>
              </a:spcAft>
            </a:pPr>
            <a:endParaRPr lang="en-US" sz="1400" dirty="0"/>
          </a:p>
          <a:p>
            <a:pPr lvl="2">
              <a:lnSpc>
                <a:spcPct val="100000"/>
              </a:lnSpc>
              <a:spcBef>
                <a:spcPts val="0"/>
              </a:spcBef>
              <a:spcAft>
                <a:spcPts val="600"/>
              </a:spcAft>
            </a:pPr>
            <a:endParaRPr lang="en-US" sz="1400" dirty="0"/>
          </a:p>
          <a:p>
            <a:pPr marL="400050" lvl="1" indent="-171450">
              <a:lnSpc>
                <a:spcPct val="100000"/>
              </a:lnSpc>
              <a:spcBef>
                <a:spcPts val="0"/>
              </a:spcBef>
              <a:spcAft>
                <a:spcPts val="600"/>
              </a:spcAft>
            </a:pPr>
            <a:endParaRPr lang="en-US" sz="1400" dirty="0"/>
          </a:p>
        </p:txBody>
      </p:sp>
      <p:pic>
        <p:nvPicPr>
          <p:cNvPr id="8" name="Picture 7">
            <a:extLst>
              <a:ext uri="{FF2B5EF4-FFF2-40B4-BE49-F238E27FC236}">
                <a16:creationId xmlns:a16="http://schemas.microsoft.com/office/drawing/2014/main" id="{113E1B70-C0A0-4D45-AFCA-9A856811EA15}"/>
              </a:ext>
            </a:extLst>
          </p:cNvPr>
          <p:cNvPicPr>
            <a:picLocks noChangeAspect="1"/>
          </p:cNvPicPr>
          <p:nvPr/>
        </p:nvPicPr>
        <p:blipFill>
          <a:blip r:embed="rId2"/>
          <a:stretch>
            <a:fillRect/>
          </a:stretch>
        </p:blipFill>
        <p:spPr>
          <a:xfrm>
            <a:off x="3792070" y="1444752"/>
            <a:ext cx="8035711" cy="1984248"/>
          </a:xfrm>
          <a:prstGeom prst="rect">
            <a:avLst/>
          </a:prstGeom>
        </p:spPr>
      </p:pic>
      <p:sp>
        <p:nvSpPr>
          <p:cNvPr id="9" name="Content Placeholder 2">
            <a:extLst>
              <a:ext uri="{FF2B5EF4-FFF2-40B4-BE49-F238E27FC236}">
                <a16:creationId xmlns:a16="http://schemas.microsoft.com/office/drawing/2014/main" id="{D6AA6E81-6B0E-48FA-942F-9582D26DED74}"/>
              </a:ext>
            </a:extLst>
          </p:cNvPr>
          <p:cNvSpPr txBox="1">
            <a:spLocks/>
          </p:cNvSpPr>
          <p:nvPr/>
        </p:nvSpPr>
        <p:spPr>
          <a:xfrm>
            <a:off x="3848979" y="3785616"/>
            <a:ext cx="6758462" cy="1910300"/>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lvl="1" indent="0">
              <a:lnSpc>
                <a:spcPct val="100000"/>
              </a:lnSpc>
              <a:spcBef>
                <a:spcPts val="0"/>
              </a:spcBef>
              <a:spcAft>
                <a:spcPts val="600"/>
              </a:spcAft>
              <a:buNone/>
            </a:pPr>
            <a:r>
              <a:rPr lang="en-US" sz="1400" dirty="0"/>
              <a:t>Notes:</a:t>
            </a:r>
          </a:p>
          <a:p>
            <a:pPr lvl="1" indent="-109538">
              <a:lnSpc>
                <a:spcPct val="100000"/>
              </a:lnSpc>
              <a:spcBef>
                <a:spcPts val="0"/>
              </a:spcBef>
              <a:spcAft>
                <a:spcPts val="600"/>
              </a:spcAft>
            </a:pPr>
            <a:r>
              <a:rPr lang="en-US" sz="1400" dirty="0"/>
              <a:t>This process converts cash coupon to Fiat Token, then credits to asset holder’s Digital Wallet. Meanwhile HSBC to debit issuer’s escrow account, credit cash to asset holder’s escrow accounts. </a:t>
            </a:r>
          </a:p>
          <a:p>
            <a:pPr lvl="1" indent="-109538">
              <a:lnSpc>
                <a:spcPct val="100000"/>
              </a:lnSpc>
              <a:spcBef>
                <a:spcPts val="0"/>
              </a:spcBef>
              <a:spcAft>
                <a:spcPts val="600"/>
              </a:spcAft>
            </a:pPr>
            <a:r>
              <a:rPr lang="en-US" sz="1400" dirty="0"/>
              <a:t>The balance of investor’s escrow account and Digital Wallet will be increased equally. The total Fiat Token on blockchain will be increased with Total coupon payment amount </a:t>
            </a:r>
          </a:p>
        </p:txBody>
      </p:sp>
    </p:spTree>
    <p:extLst>
      <p:ext uri="{BB962C8B-B14F-4D97-AF65-F5344CB8AC3E}">
        <p14:creationId xmlns:p14="http://schemas.microsoft.com/office/powerpoint/2010/main" val="819342036"/>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F25A0713-A64B-439B-91E9-551CE2BAEA8D}" vid="{FD9CE0B8-0910-4446-AF74-F335AEE71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Welcome to PowerPoint</Template>
  <TotalTime>413</TotalTime>
  <Words>2009</Words>
  <Application>Microsoft Office PowerPoint</Application>
  <PresentationFormat>Widescreen</PresentationFormat>
  <Paragraphs>136</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Segoe UI</vt:lpstr>
      <vt:lpstr>Segoe UI Light</vt:lpstr>
      <vt:lpstr>WelcomeDoc</vt:lpstr>
      <vt:lpstr>HSBC Escrow / Trust Solution Analysis</vt:lpstr>
      <vt:lpstr>Account Type – Pro/Con Analysis</vt:lpstr>
      <vt:lpstr>Investor relationship with HSBC</vt:lpstr>
      <vt:lpstr>Trust Account vs. Escrow Account</vt:lpstr>
      <vt:lpstr>Account Structure</vt:lpstr>
      <vt:lpstr>Escrow Account Related questions</vt:lpstr>
      <vt:lpstr>Cash Deposit Process</vt:lpstr>
      <vt:lpstr>Digit Assets Exchange process 1</vt:lpstr>
      <vt:lpstr>Digit Assets Exchange process 2</vt:lpstr>
      <vt:lpstr>Cash Withdraw</vt:lpstr>
      <vt:lpstr>Coupon / Interest Payment – Option 1</vt:lpstr>
      <vt:lpstr>Coupon / Interest Payment – Option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HSBC Escrow / Trust Solution Analysis</dc:title>
  <dc:creator>Yiping Jin</dc:creator>
  <cp:keywords/>
  <cp:lastModifiedBy>Yiping Jin</cp:lastModifiedBy>
  <cp:revision>9</cp:revision>
  <dcterms:created xsi:type="dcterms:W3CDTF">2021-03-15T04:05:36Z</dcterms:created>
  <dcterms:modified xsi:type="dcterms:W3CDTF">2021-03-16T18:12:48Z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